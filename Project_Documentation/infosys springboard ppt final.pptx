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8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0D2B0D-966E-40C9-84E5-1099C2AF790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991B4-43CB-41CC-84DF-0E25599EB3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226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C991B4-43CB-41CC-84DF-0E25599EB31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850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28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2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232242"/>
          </a:solidFill>
          <a:ln w="190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0" rIns="731520" rtlCol="0" anchor="ctr"/>
          <a:lstStyle/>
          <a:p>
            <a:pPr algn="ctr">
              <a:spcAft>
                <a:spcPts val="2000"/>
              </a:spcAft>
            </a:pPr>
            <a:r>
              <a:rPr sz="1300" b="1" dirty="0">
                <a:solidFill>
                  <a:srgbClr val="7F77DD"/>
                </a:solidFill>
                <a:latin typeface="Calibri"/>
              </a:rPr>
              <a:t>INFOSYS SPRINGBOARD INTERNSHIP</a:t>
            </a:r>
          </a:p>
          <a:p>
            <a:pPr algn="ctr">
              <a:spcAft>
                <a:spcPts val="3600"/>
              </a:spcAft>
            </a:pPr>
            <a:r>
              <a:rPr sz="3000" b="1" dirty="0">
                <a:solidFill>
                  <a:srgbClr val="FFFFFF"/>
                </a:solidFill>
                <a:latin typeface="Cambria"/>
              </a:rPr>
              <a:t>Cloud Security Monitoring System with
Incident Management Assistance</a:t>
            </a:r>
            <a:endParaRPr lang="en-US" sz="3000" b="1" dirty="0">
              <a:solidFill>
                <a:srgbClr val="FFFFFF"/>
              </a:solidFill>
              <a:latin typeface="Cambria"/>
            </a:endParaRPr>
          </a:p>
          <a:p>
            <a:pPr algn="ctr">
              <a:spcAft>
                <a:spcPts val="3600"/>
              </a:spcAft>
            </a:pPr>
            <a:r>
              <a:rPr lang="en-US" sz="1600" b="1" dirty="0">
                <a:solidFill>
                  <a:srgbClr val="FFFFFF"/>
                </a:solidFill>
                <a:latin typeface="Cambria"/>
              </a:rPr>
              <a:t>Mentor Name: VIJAY VASANTH</a:t>
            </a:r>
          </a:p>
          <a:p>
            <a:pPr algn="ctr"/>
            <a:r>
              <a:rPr sz="1600" b="1" dirty="0">
                <a:solidFill>
                  <a:srgbClr val="EEEDFE"/>
                </a:solidFill>
                <a:latin typeface="Calibri"/>
              </a:rPr>
              <a:t>Team Members: N</a:t>
            </a:r>
            <a:r>
              <a:rPr lang="en-US" sz="1600" b="1" dirty="0">
                <a:solidFill>
                  <a:srgbClr val="EEEDFE"/>
                </a:solidFill>
                <a:latin typeface="Calibri"/>
              </a:rPr>
              <a:t>IVETHA V, LAV SAXENA, DEEPALI SINGH, HRISHITA DEY, VINAYKUMAR, RAKESH </a:t>
            </a:r>
            <a:endParaRPr sz="1600" b="1" dirty="0">
              <a:solidFill>
                <a:srgbClr val="EEEDF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AGENDA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Presentation Overview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A simple walkthrough of what we built and 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Problem &amp; Goals: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Why cloud servers need continuous automatic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8292" y="1965959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Tech Stack: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The languages, tools, and frameworks we chose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Database Structure: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How our database tables link to each other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2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3428999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APIs &amp; Monitoring: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How data flows and checks server health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Milestones 1 to 4: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Step-by-step progress backed by real screenshots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2760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Security &amp; Strengths: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How we protect data and key system highlights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1024" y="6858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534AB7"/>
                </a:solidFill>
                <a:latin typeface="Calibri"/>
              </a:rPr>
              <a:t>THE PROBLEM</a:t>
            </a:r>
          </a:p>
          <a:p>
            <a:pPr>
              <a:spcAft>
                <a:spcPts val="200"/>
              </a:spcAft>
            </a:pPr>
            <a:r>
              <a:rPr sz="2300" b="1">
                <a:solidFill>
                  <a:srgbClr val="1A1A2E"/>
                </a:solidFill>
                <a:latin typeface="Cambria"/>
              </a:rPr>
              <a:t>Why Server Monitoring Matters</a:t>
            </a:r>
          </a:p>
          <a:p>
            <a:r>
              <a:rPr sz="1100">
                <a:solidFill>
                  <a:srgbClr val="5F5E5A"/>
                </a:solidFill>
                <a:latin typeface="Calibri"/>
              </a:rPr>
              <a:t>Common issues when teams run multiple cloud servers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Too Many Servers: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Hard to track every machine without a single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8292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Slow Manual Checks: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Checking servers by hand misses sudden spikes in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32048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Unexpected Crashes: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High CPU or memory can crash servers without warning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2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3435096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No Role Limits: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Without roles, any user could delete an important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Too Many Spam Alerts: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Constant alert spam causes engineers to ignore real issues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Missed Emergencies: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Without fast SMS, teams find out about crashes too 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504" y="19664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1024" y="757914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PROJECT GOALS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What We Set Out to Build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Our main goals for a reliable monitoring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6906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One Live Dashboard: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Show all servers, CPU, RAM, and disk in one place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2" y="1967852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Automatic Health Checks: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Check every server automatically every 60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Two Clear User Roles: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Give Admins full control and Viewers read-only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2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8292" y="342900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Fast Multi-Channel Alerts: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Send Twilio SMS for critical alerts and email for warnings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Duplicate Alert Prevention:</a:t>
            </a:r>
            <a:r>
              <a:rPr lang="en-IN" sz="1600" dirty="0"/>
              <a:t> Prevents repeated OPEN alerts for the same asset and severity.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5352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489719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Smooth Login Experience: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Keep users logged in without annoying session timeouts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7494" y="671543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TECH STACK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Tools &amp; Technologies Used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Modern, reliable tools chosen to build a complete full-stack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3713" y="1619187"/>
            <a:ext cx="2487168" cy="456727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bIns="137160" rtlCol="0" anchor="ctr"/>
          <a:lstStyle/>
          <a:p>
            <a:pPr algn="ctr">
              <a:spcAft>
                <a:spcPts val="1200"/>
              </a:spcAft>
            </a:pPr>
            <a:r>
              <a:rPr sz="1400" b="1" dirty="0">
                <a:solidFill>
                  <a:srgbClr val="3C3489"/>
                </a:solidFill>
                <a:latin typeface="Calibri"/>
              </a:rPr>
              <a:t>BACKEND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Java 21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Modern LTS with virtual threads &amp; type safety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Spring Boot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REST API framework &amp; dependency injection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Spring Data JPA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JPA/Hibernate with parameterized queries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Maven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Build automation &amp; dependency lifecycle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Lombok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Reduces boilerplate models &amp; accessors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19187"/>
            <a:ext cx="2487168" cy="456727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bIns="137160" rtlCol="0" anchor="ctr"/>
          <a:lstStyle/>
          <a:p>
            <a:pPr algn="ctr">
              <a:spcAft>
                <a:spcPts val="1200"/>
              </a:spcAft>
            </a:pPr>
            <a:r>
              <a:rPr sz="1400" b="1" dirty="0">
                <a:solidFill>
                  <a:srgbClr val="3C3489"/>
                </a:solidFill>
                <a:latin typeface="Calibri"/>
              </a:rPr>
              <a:t>DATABASE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A1A2E"/>
                </a:solidFill>
                <a:latin typeface="Calibri"/>
              </a:rPr>
              <a:t>PostgreSQL
</a:t>
            </a:r>
            <a:r>
              <a:rPr sz="1350" dirty="0">
                <a:solidFill>
                  <a:srgbClr val="5F5E5A"/>
                </a:solidFill>
                <a:latin typeface="Calibri"/>
              </a:rPr>
              <a:t>Relational database with ACID transactions</a:t>
            </a:r>
          </a:p>
          <a:p>
            <a:pPr>
              <a:spcAft>
                <a:spcPts val="700"/>
              </a:spcAft>
            </a:pPr>
            <a:r>
              <a:rPr lang="en-IN" sz="1350" b="1" dirty="0">
                <a:solidFill>
                  <a:srgbClr val="1A1A2E"/>
                </a:solidFill>
              </a:rPr>
              <a:t>Hibernate ORM</a:t>
            </a:r>
          </a:p>
          <a:p>
            <a:pPr>
              <a:spcAft>
                <a:spcPts val="700"/>
              </a:spcAft>
            </a:pPr>
            <a:r>
              <a:rPr lang="en-US" sz="1350" dirty="0">
                <a:solidFill>
                  <a:srgbClr val="5F5E5A"/>
                </a:solidFill>
              </a:rPr>
              <a:t>Automated schema generation and entity persistence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A1A2E"/>
                </a:solidFill>
                <a:latin typeface="Calibri"/>
              </a:rPr>
              <a:t>Table Links
</a:t>
            </a:r>
            <a:r>
              <a:rPr sz="1350" dirty="0">
                <a:solidFill>
                  <a:srgbClr val="5F5E5A"/>
                </a:solidFill>
                <a:latin typeface="Calibri"/>
              </a:rPr>
              <a:t>Foreign keys linking alerts to assets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A1A2E"/>
                </a:solidFill>
                <a:latin typeface="Calibri"/>
              </a:rPr>
              <a:t>Unique Names
</a:t>
            </a:r>
            <a:r>
              <a:rPr sz="1350" dirty="0">
                <a:solidFill>
                  <a:srgbClr val="5F5E5A"/>
                </a:solidFill>
                <a:latin typeface="Calibri"/>
              </a:rPr>
              <a:t>Unique constraints preventing duplicates</a:t>
            </a:r>
          </a:p>
          <a:p>
            <a:pPr>
              <a:spcAft>
                <a:spcPts val="700"/>
              </a:spcAft>
            </a:pPr>
            <a:r>
              <a:rPr sz="1350" b="1" dirty="0">
                <a:solidFill>
                  <a:srgbClr val="1A1A2E"/>
                </a:solidFill>
                <a:latin typeface="Calibri"/>
              </a:rPr>
              <a:t>Timestamps
</a:t>
            </a:r>
            <a:r>
              <a:rPr sz="1350" dirty="0">
                <a:solidFill>
                  <a:srgbClr val="5F5E5A"/>
                </a:solidFill>
                <a:latin typeface="Calibri"/>
              </a:rPr>
              <a:t>Audit timestamps for alert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5727" y="1619187"/>
            <a:ext cx="2487168" cy="456727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bIns="137160" rtlCol="0" anchor="ctr"/>
          <a:lstStyle/>
          <a:p>
            <a:pPr algn="ctr">
              <a:spcAft>
                <a:spcPts val="1200"/>
              </a:spcAft>
            </a:pPr>
            <a:r>
              <a:rPr sz="1400" b="1" dirty="0">
                <a:solidFill>
                  <a:srgbClr val="3C3489"/>
                </a:solidFill>
                <a:latin typeface="Calibri"/>
              </a:rPr>
              <a:t>FRONT</a:t>
            </a:r>
            <a:r>
              <a:rPr lang="en-IN" sz="1400" b="1" dirty="0">
                <a:solidFill>
                  <a:srgbClr val="3C3489"/>
                </a:solidFill>
                <a:latin typeface="Calibri"/>
              </a:rPr>
              <a:t>END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React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Component</a:t>
            </a:r>
            <a:r>
              <a:rPr lang="en-US" sz="1400" dirty="0">
                <a:solidFill>
                  <a:srgbClr val="5F5E5A"/>
                </a:solidFill>
                <a:latin typeface="Calibri"/>
              </a:rPr>
              <a:t>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architecture for dynamic UI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Vite</a:t>
            </a:r>
            <a:endParaRPr lang="en-IN" sz="1400" b="1" dirty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r>
              <a:rPr sz="1400" dirty="0">
                <a:solidFill>
                  <a:srgbClr val="5F5E5A"/>
                </a:solidFill>
                <a:latin typeface="Calibri"/>
              </a:rPr>
              <a:t>Modern build tool with instant startup</a:t>
            </a:r>
          </a:p>
          <a:p>
            <a:pPr>
              <a:spcAft>
                <a:spcPts val="700"/>
              </a:spcAft>
            </a:pPr>
            <a:r>
              <a:rPr lang="en-IN" sz="1400" b="1" dirty="0">
                <a:solidFill>
                  <a:schemeClr val="tx1"/>
                </a:solidFill>
              </a:rPr>
              <a:t>Dashboard Visualizations</a:t>
            </a:r>
          </a:p>
          <a:p>
            <a:pPr>
              <a:spcAft>
                <a:spcPts val="700"/>
              </a:spcAft>
            </a:pP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Displays CPU, memory    and server health information.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Axios</a:t>
            </a:r>
            <a:endParaRPr lang="en-IN" sz="1400" b="1" dirty="0">
              <a:solidFill>
                <a:srgbClr val="1A1A2E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r>
              <a:rPr sz="1400" dirty="0">
                <a:solidFill>
                  <a:srgbClr val="5F5E5A"/>
                </a:solidFill>
                <a:latin typeface="Calibri"/>
              </a:rPr>
              <a:t>HTTP client with automated interceptors</a:t>
            </a:r>
            <a:endParaRPr lang="en-US" sz="1400" dirty="0">
              <a:solidFill>
                <a:srgbClr val="5F5E5A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endParaRPr lang="en-IN" sz="1400" dirty="0">
              <a:solidFill>
                <a:srgbClr val="5F5E5A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endParaRPr lang="en-IN" sz="14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973007" y="1619187"/>
            <a:ext cx="2487168" cy="456727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64592" bIns="137160" rtlCol="0" anchor="ctr"/>
          <a:lstStyle/>
          <a:p>
            <a:pPr algn="ctr">
              <a:spcAft>
                <a:spcPts val="1200"/>
              </a:spcAft>
            </a:pPr>
            <a:r>
              <a:rPr sz="1400" b="1" dirty="0">
                <a:solidFill>
                  <a:srgbClr val="3C3489"/>
                </a:solidFill>
                <a:latin typeface="Calibri"/>
              </a:rPr>
              <a:t>SECURITY &amp; ALERTS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Spring Security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Filter chain &amp; method-level RBAC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JWT Tokens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Stateless 15-min access &amp; 7-day refresh</a:t>
            </a:r>
          </a:p>
          <a:p>
            <a:pPr>
              <a:spcAft>
                <a:spcPts val="700"/>
              </a:spcAft>
            </a:pPr>
            <a:r>
              <a:rPr sz="1400" b="1" dirty="0" err="1">
                <a:solidFill>
                  <a:srgbClr val="1A1A2E"/>
                </a:solidFill>
                <a:latin typeface="Calibri"/>
              </a:rPr>
              <a:t>BCrypt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 Hashing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Salted password hashing (cost factor 10)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Twilio SMS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Cellular SMS alerts for critical incidents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SMTP Email
</a:t>
            </a:r>
            <a:r>
              <a:rPr sz="1400" dirty="0">
                <a:solidFill>
                  <a:srgbClr val="5F5E5A"/>
                </a:solidFill>
                <a:latin typeface="Calibri"/>
              </a:rPr>
              <a:t>Automated email alerts for warnings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346" y="7315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SYSTEM ARCHITECTURE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End-to-End System Architecture Flow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Request lifecycle from user interaction through security, services, and database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463040" cy="164592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rtlCol="0" anchor="ctr"/>
          <a:lstStyle/>
          <a:p>
            <a:pPr algn="ctr">
              <a:spcAft>
                <a:spcPts val="400"/>
              </a:spcAft>
            </a:pPr>
            <a:r>
              <a:rPr sz="1200" b="1" dirty="0">
                <a:solidFill>
                  <a:srgbClr val="3C3489"/>
                </a:solidFill>
                <a:latin typeface="Calibri"/>
              </a:rPr>
              <a:t>1. User</a:t>
            </a:r>
          </a:p>
          <a:p>
            <a:pPr algn="ctr"/>
            <a:r>
              <a:rPr sz="1200" dirty="0">
                <a:solidFill>
                  <a:srgbClr val="5F5E5A"/>
                </a:solidFill>
                <a:latin typeface="Calibri"/>
              </a:rPr>
              <a:t>Browser Operator
(Admin / Viewer)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423160"/>
            <a:ext cx="384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34AB7"/>
                </a:solidFill>
                <a:latin typeface="Calibri"/>
              </a:rP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8608" y="1828800"/>
            <a:ext cx="1463040" cy="164592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rtlCol="0" anchor="ctr"/>
          <a:lstStyle/>
          <a:p>
            <a:pPr algn="ctr">
              <a:spcAft>
                <a:spcPts val="400"/>
              </a:spcAft>
            </a:pPr>
            <a:r>
              <a:rPr sz="1200" b="1" dirty="0">
                <a:solidFill>
                  <a:srgbClr val="3C3489"/>
                </a:solidFill>
                <a:latin typeface="Calibri"/>
              </a:rPr>
              <a:t>2. React</a:t>
            </a:r>
          </a:p>
          <a:p>
            <a:pPr algn="ctr"/>
            <a:r>
              <a:rPr sz="1200" dirty="0">
                <a:solidFill>
                  <a:srgbClr val="5F5E5A"/>
                </a:solidFill>
                <a:latin typeface="Calibri"/>
              </a:rPr>
              <a:t>Vite Single Page App
Axios Interceptors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2423160"/>
            <a:ext cx="384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34AB7"/>
                </a:solidFill>
                <a:latin typeface="Calibri"/>
              </a:rP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828800"/>
            <a:ext cx="1463040" cy="164592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rtlCol="0" anchor="ctr"/>
          <a:lstStyle/>
          <a:p>
            <a:pPr algn="ctr">
              <a:spcAft>
                <a:spcPts val="400"/>
              </a:spcAft>
            </a:pPr>
            <a:r>
              <a:rPr sz="1200" b="1" dirty="0">
                <a:solidFill>
                  <a:srgbClr val="3C3489"/>
                </a:solidFill>
                <a:latin typeface="Calibri"/>
              </a:rPr>
              <a:t>3. Spring Boot</a:t>
            </a:r>
          </a:p>
          <a:p>
            <a:pPr algn="ctr"/>
            <a:r>
              <a:rPr sz="1200" dirty="0">
                <a:solidFill>
                  <a:srgbClr val="5F5E5A"/>
                </a:solidFill>
                <a:latin typeface="Calibri"/>
              </a:rPr>
              <a:t>REST Controller
API 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8736" y="2423160"/>
            <a:ext cx="384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34AB7"/>
                </a:solidFill>
                <a:latin typeface="Calibri"/>
              </a:rP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828800"/>
            <a:ext cx="1463040" cy="164592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rtlCol="0" anchor="ctr"/>
          <a:lstStyle/>
          <a:p>
            <a:pPr algn="ctr">
              <a:spcAft>
                <a:spcPts val="400"/>
              </a:spcAft>
            </a:pPr>
            <a:r>
              <a:rPr sz="1200" b="1" dirty="0">
                <a:solidFill>
                  <a:srgbClr val="3C3489"/>
                </a:solidFill>
                <a:latin typeface="Calibri"/>
              </a:rPr>
              <a:t>4. Spring Security</a:t>
            </a:r>
          </a:p>
          <a:p>
            <a:pPr algn="ctr"/>
            <a:r>
              <a:rPr sz="1200" dirty="0" err="1">
                <a:solidFill>
                  <a:srgbClr val="5F5E5A"/>
                </a:solidFill>
                <a:latin typeface="Calibri"/>
              </a:rPr>
              <a:t>JwtAuthFilte</a:t>
            </a:r>
            <a:r>
              <a:rPr lang="en-IN" sz="1200" dirty="0">
                <a:solidFill>
                  <a:srgbClr val="5F5E5A"/>
                </a:solidFill>
                <a:latin typeface="Calibri"/>
              </a:rPr>
              <a:t>r</a:t>
            </a:r>
            <a:r>
              <a:rPr sz="1200" dirty="0">
                <a:solidFill>
                  <a:srgbClr val="5F5E5A"/>
                </a:solidFill>
                <a:latin typeface="Calibri"/>
              </a:rPr>
              <a:t>&amp;
Method @PreAuthorize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24" y="2423160"/>
            <a:ext cx="384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34AB7"/>
                </a:solidFill>
                <a:latin typeface="Calibri"/>
              </a:rP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828800"/>
            <a:ext cx="1463040" cy="164592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rtlCol="0" anchor="ctr"/>
          <a:lstStyle/>
          <a:p>
            <a:pPr algn="ctr">
              <a:spcAft>
                <a:spcPts val="400"/>
              </a:spcAft>
            </a:pPr>
            <a:r>
              <a:rPr sz="1200" b="1" dirty="0">
                <a:solidFill>
                  <a:srgbClr val="3C3489"/>
                </a:solidFill>
                <a:latin typeface="Calibri"/>
              </a:rPr>
              <a:t>5. Service Layer</a:t>
            </a:r>
          </a:p>
          <a:p>
            <a:pPr algn="ctr"/>
            <a:r>
              <a:rPr sz="1200" dirty="0">
                <a:solidFill>
                  <a:srgbClr val="5F5E5A"/>
                </a:solidFill>
                <a:latin typeface="Calibri"/>
              </a:rPr>
              <a:t>Asset &amp; Alert Services
60s Scheduled Daemon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2" y="2423160"/>
            <a:ext cx="3840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34AB7"/>
                </a:solidFill>
                <a:latin typeface="Calibri"/>
              </a:rP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66960" y="1828800"/>
            <a:ext cx="1463040" cy="164592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09728" rIns="73152" rtlCol="0" anchor="ctr"/>
          <a:lstStyle/>
          <a:p>
            <a:pPr algn="ctr">
              <a:spcAft>
                <a:spcPts val="400"/>
              </a:spcAft>
            </a:pPr>
            <a:r>
              <a:rPr sz="1200" b="1" dirty="0">
                <a:solidFill>
                  <a:srgbClr val="3C3489"/>
                </a:solidFill>
                <a:latin typeface="Calibri"/>
              </a:rPr>
              <a:t>6. PostgreSQL</a:t>
            </a:r>
          </a:p>
          <a:p>
            <a:pPr algn="ctr"/>
            <a:r>
              <a:rPr sz="1200" dirty="0">
                <a:solidFill>
                  <a:srgbClr val="5F5E5A"/>
                </a:solidFill>
                <a:latin typeface="Calibri"/>
              </a:rPr>
              <a:t>Relational Database
JPA Prepared Queries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10728655" cy="233172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bIns="164592" rtlCol="0" anchor="ctr"/>
          <a:lstStyle/>
          <a:p>
            <a:pPr algn="ctr">
              <a:spcAft>
                <a:spcPts val="600"/>
              </a:spcAft>
            </a:pPr>
            <a:r>
              <a:rPr sz="2000" b="1" dirty="0">
                <a:solidFill>
                  <a:srgbClr val="3C3489"/>
                </a:solidFill>
                <a:latin typeface="Calibri"/>
              </a:rPr>
              <a:t>ARCHITECTURAL REQUEST LIFECYCLE BREAKDOWN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• Client Tier: </a:t>
            </a:r>
            <a:r>
              <a:rPr sz="1400" b="0" dirty="0">
                <a:solidFill>
                  <a:srgbClr val="5F5E5A"/>
                </a:solidFill>
                <a:latin typeface="Calibri"/>
              </a:rPr>
              <a:t>User interacts with React SPA; Axios interceptor automatically injects JWT Bearer token into HTTP headers.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• Gateway &amp; Security: </a:t>
            </a:r>
            <a:r>
              <a:rPr sz="1400" b="0" dirty="0">
                <a:solidFill>
                  <a:srgbClr val="5F5E5A"/>
                </a:solidFill>
                <a:latin typeface="Calibri"/>
              </a:rPr>
              <a:t>Spring Boot routes requests through JwtAuthFilter; Spring Security validates token HMAC signature and enforces method-level @PreAuthorize RBAC.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• Service &amp; Scheduling: </a:t>
            </a:r>
            <a:r>
              <a:rPr sz="1400" b="0" dirty="0">
                <a:solidFill>
                  <a:srgbClr val="5F5E5A"/>
                </a:solidFill>
                <a:latin typeface="Calibri"/>
              </a:rPr>
              <a:t>Authorized requests execute business logic in Service layer; automated 60-second scheduled daemon monitors cluster health and evaluates incident rules.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A1A2E"/>
                </a:solidFill>
                <a:latin typeface="Calibri"/>
              </a:rPr>
              <a:t>• Persistence Tier: </a:t>
            </a:r>
            <a:r>
              <a:rPr sz="1400" b="0" dirty="0">
                <a:solidFill>
                  <a:srgbClr val="5F5E5A"/>
                </a:solidFill>
                <a:latin typeface="Calibri"/>
              </a:rPr>
              <a:t>Spring Data JPA executes parameterized prepared queries with HikariCP connection pooling to safely query and persist entities in PostgreSQL.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504" y="255639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6905" y="7315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BACKEND DESIGN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How the Backend Is Organized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Keeping code neat, clean, and easy to maintain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2009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Separated Layers: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Controllers take requests, services do work, repositories save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2" y="1966906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Safe Data Objects (DTOs):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Keeps database tables separate from API response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Builder Pattern: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Creates objects cleanly without messy long constructors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2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342900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Safe Null Checks: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Uses simple Java checks to stop app crashes when data is missing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Friendly Error Handler: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Catches all errors and shows a clean message instead of scary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489719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Request Check Filter: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Inspects the user's login token before letting any request through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9504" y="19418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45032" y="701532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DATABASE STRUCTURE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Database Tables &amp; Links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Our four PostgreSQL tables and how they connect to each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05740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37160" rtlCol="0" anchor="ctr"/>
          <a:lstStyle/>
          <a:p>
            <a:pPr algn="ctr">
              <a:spcAft>
                <a:spcPts val="400"/>
              </a:spcAft>
            </a:pPr>
            <a:r>
              <a:rPr sz="1600" b="1" dirty="0">
                <a:solidFill>
                  <a:srgbClr val="3C3489"/>
                </a:solidFill>
                <a:latin typeface="Calibri"/>
              </a:rPr>
              <a:t>TABLE 1: </a:t>
            </a:r>
            <a:r>
              <a:rPr sz="1600" b="1" dirty="0" err="1">
                <a:solidFill>
                  <a:srgbClr val="3C3489"/>
                </a:solidFill>
                <a:latin typeface="Calibri"/>
              </a:rPr>
              <a:t>infrastructure_assets</a:t>
            </a:r>
            <a:r>
              <a:rPr sz="1600" b="1" dirty="0">
                <a:solidFill>
                  <a:srgbClr val="3C3489"/>
                </a:solidFill>
                <a:latin typeface="Calibri"/>
              </a:rPr>
              <a:t> (Our Servers)</a:t>
            </a:r>
          </a:p>
          <a:p>
            <a:r>
              <a:rPr sz="1400" dirty="0">
                <a:solidFill>
                  <a:srgbClr val="5F5E5A"/>
                </a:solidFill>
                <a:latin typeface="Calibri"/>
              </a:rPr>
              <a:t>• id: Primary key (BIGINT)
•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asset_name</a:t>
            </a:r>
            <a:r>
              <a:rPr sz="1400" dirty="0">
                <a:solidFill>
                  <a:srgbClr val="5F5E5A"/>
                </a:solidFill>
                <a:latin typeface="Calibri"/>
              </a:rPr>
              <a:t>: Hostname (UNIQUE)
•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asset_type</a:t>
            </a:r>
            <a:r>
              <a:rPr sz="1400" dirty="0">
                <a:solidFill>
                  <a:srgbClr val="5F5E5A"/>
                </a:solidFill>
                <a:latin typeface="Calibri"/>
              </a:rPr>
              <a:t> &amp;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ip_address</a:t>
            </a:r>
            <a:r>
              <a:rPr sz="1400" dirty="0">
                <a:solidFill>
                  <a:srgbClr val="5F5E5A"/>
                </a:solidFill>
                <a:latin typeface="Calibri"/>
              </a:rPr>
              <a:t>: Machine type &amp; IP
•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cpu</a:t>
            </a:r>
            <a:r>
              <a:rPr sz="1400" dirty="0">
                <a:solidFill>
                  <a:srgbClr val="5F5E5A"/>
                </a:solidFill>
                <a:latin typeface="Calibri"/>
              </a:rPr>
              <a:t>, memory, disk: Live % utilization
•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asset_status</a:t>
            </a:r>
            <a:r>
              <a:rPr sz="1400" dirty="0">
                <a:solidFill>
                  <a:srgbClr val="5F5E5A"/>
                </a:solidFill>
                <a:latin typeface="Calibri"/>
              </a:rPr>
              <a:t>: ONLINE, </a:t>
            </a:r>
            <a:r>
              <a:rPr lang="en-IN" sz="1400" dirty="0">
                <a:solidFill>
                  <a:srgbClr val="5F5E5A"/>
                </a:solidFill>
                <a:latin typeface="Calibri"/>
              </a:rPr>
              <a:t>WARNING, CRITICAL</a:t>
            </a:r>
            <a:r>
              <a:rPr sz="1400" dirty="0">
                <a:solidFill>
                  <a:srgbClr val="5F5E5A"/>
                </a:solidFill>
                <a:latin typeface="Calibri"/>
              </a:rPr>
              <a:t>
• </a:t>
            </a:r>
            <a:r>
              <a:rPr lang="en-I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cpu_alert_active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&amp; </a:t>
            </a:r>
            <a:r>
              <a:rPr lang="en-IN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memory_alert_active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Alert state flags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45352" y="1783080"/>
            <a:ext cx="5212080" cy="205740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37160" rtlCol="0" anchor="ctr"/>
          <a:lstStyle/>
          <a:p>
            <a:pPr algn="ctr">
              <a:spcAft>
                <a:spcPts val="400"/>
              </a:spcAft>
            </a:pPr>
            <a:r>
              <a:rPr sz="1600" b="1" dirty="0">
                <a:solidFill>
                  <a:srgbClr val="3C3489"/>
                </a:solidFill>
                <a:latin typeface="Calibri"/>
              </a:rPr>
              <a:t>TABLE 2: alerts (Connected to Server)</a:t>
            </a:r>
          </a:p>
          <a:p>
            <a:r>
              <a:rPr sz="1400" dirty="0">
                <a:solidFill>
                  <a:srgbClr val="5F5E5A"/>
                </a:solidFill>
                <a:latin typeface="Calibri"/>
              </a:rPr>
              <a:t>• id: Primary key (BIGINT)
•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asset_id</a:t>
            </a:r>
            <a:r>
              <a:rPr sz="1400" dirty="0">
                <a:solidFill>
                  <a:srgbClr val="5F5E5A"/>
                </a:solidFill>
                <a:latin typeface="Calibri"/>
              </a:rPr>
              <a:t>: Foreign key linking alert to asset
• severity: LOW, MEDIUM, HIGH, CRITICAL
• message: Incident alert description
• status: OPEN or RESOLVED (two-state)
•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created_at</a:t>
            </a:r>
            <a:r>
              <a:rPr sz="1400" dirty="0">
                <a:solidFill>
                  <a:srgbClr val="5F5E5A"/>
                </a:solidFill>
                <a:latin typeface="Calibri"/>
              </a:rPr>
              <a:t> &amp;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resolved_at</a:t>
            </a:r>
            <a:r>
              <a:rPr sz="1400" dirty="0">
                <a:solidFill>
                  <a:srgbClr val="5F5E5A"/>
                </a:solidFill>
                <a:latin typeface="Calibri"/>
              </a:rPr>
              <a:t>: Timestamps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03696"/>
            <a:ext cx="5212080" cy="205740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37160" rtlCol="0" anchor="ctr"/>
          <a:lstStyle/>
          <a:p>
            <a:pPr algn="ctr">
              <a:spcAft>
                <a:spcPts val="400"/>
              </a:spcAft>
            </a:pPr>
            <a:r>
              <a:rPr sz="1600" b="1" dirty="0">
                <a:solidFill>
                  <a:srgbClr val="3C3489"/>
                </a:solidFill>
                <a:latin typeface="Calibri"/>
              </a:rPr>
              <a:t>TABLES 3 &amp; 4: users, roles &amp; </a:t>
            </a:r>
            <a:r>
              <a:rPr sz="1600" b="1" dirty="0" err="1">
                <a:solidFill>
                  <a:srgbClr val="3C3489"/>
                </a:solidFill>
                <a:latin typeface="Calibri"/>
              </a:rPr>
              <a:t>user_roles</a:t>
            </a:r>
            <a:endParaRPr sz="1600" b="1" dirty="0">
              <a:solidFill>
                <a:srgbClr val="3C3489"/>
              </a:solidFill>
              <a:latin typeface="Calibri"/>
            </a:endParaRPr>
          </a:p>
          <a:p>
            <a:r>
              <a:rPr sz="1400" dirty="0">
                <a:solidFill>
                  <a:srgbClr val="5F5E5A"/>
                </a:solidFill>
                <a:latin typeface="Calibri"/>
              </a:rPr>
              <a:t>• users: Username,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BCrypt</a:t>
            </a:r>
            <a:r>
              <a:rPr sz="1400" dirty="0">
                <a:solidFill>
                  <a:srgbClr val="5F5E5A"/>
                </a:solidFill>
                <a:latin typeface="Calibri"/>
              </a:rPr>
              <a:t> password, active flag
• roles: ROLE_ADMIN and ROLE_VIEWER
•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user_roles</a:t>
            </a:r>
            <a:r>
              <a:rPr sz="1400" dirty="0">
                <a:solidFill>
                  <a:srgbClr val="5F5E5A"/>
                </a:solidFill>
                <a:latin typeface="Calibri"/>
              </a:rPr>
              <a:t>: Many-to-many junction bridge table
• Default Accounts: admin &amp; viewer logins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4023360"/>
            <a:ext cx="5212080" cy="205740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bIns="137160" rtlCol="0" anchor="ctr"/>
          <a:lstStyle/>
          <a:p>
            <a:pPr algn="ctr">
              <a:spcAft>
                <a:spcPts val="400"/>
              </a:spcAft>
            </a:pPr>
            <a:r>
              <a:rPr sz="1600" b="1" dirty="0">
                <a:solidFill>
                  <a:srgbClr val="3C3489"/>
                </a:solidFill>
                <a:latin typeface="Calibri"/>
              </a:rPr>
              <a:t>HOW OUR TABLES CONNECT</a:t>
            </a:r>
          </a:p>
          <a:p>
            <a:r>
              <a:rPr sz="1400" dirty="0">
                <a:solidFill>
                  <a:srgbClr val="5F5E5A"/>
                </a:solidFill>
                <a:latin typeface="Calibri"/>
              </a:rPr>
              <a:t>• One-to-Many: One server links to multiple alerts
• Many-to-Many: Users map to roles via bridge table
• SQL Safety: Parameterized JPA queries prevent injection
• ACID Persistence: Reliable transactions in PostgreSQL
• Resolution Audit: Stamped </a:t>
            </a:r>
            <a:r>
              <a:rPr sz="1400" dirty="0" err="1">
                <a:solidFill>
                  <a:srgbClr val="5F5E5A"/>
                </a:solidFill>
                <a:latin typeface="Calibri"/>
              </a:rPr>
              <a:t>resolved_at</a:t>
            </a:r>
            <a:r>
              <a:rPr sz="1400" dirty="0">
                <a:solidFill>
                  <a:srgbClr val="5F5E5A"/>
                </a:solidFill>
                <a:latin typeface="Calibri"/>
              </a:rPr>
              <a:t> timestamp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03006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FRONTEND DESIGN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How the Frontend Works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A fast, clean React app that stays responsive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4460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Fast React 18 App: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Loads quickly in the browser and updates without page reloads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8292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Shared Login State: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Remembers if you are an Admin or Viewer across all pages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32048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Automatic Token Adding: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Attaches your login token to every API call behind the scenes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2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3435096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Silent Token Refresh: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Gets a new token if the old one expires so you stay logged 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9677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Clean Custom Theme:</a:t>
            </a:r>
            <a:r>
              <a:rPr lang="en-IN" sz="1600" dirty="0"/>
              <a:t> CSS-based styling provides cards, buttons, tables and responsive layouts.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4896770"/>
            <a:ext cx="4434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Dashboard Visualizations:</a:t>
            </a:r>
            <a:r>
              <a:rPr lang="en-IN" sz="1600" dirty="0"/>
              <a:t> Displays CPU, memory and server health information through dashboard cards and visual elements.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8836" y="6858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API SPECIFICATION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Our Main REST APIs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Simple web endpoints that connect our frontend and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728655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1097280" cy="61264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275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7500A"/>
                </a:solidFill>
                <a:latin typeface="Calibri"/>
              </a:defRPr>
            </a:pPr>
            <a:r>
              <a:rPr sz="1600"/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20240"/>
            <a:ext cx="8961120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/</a:t>
            </a:r>
            <a:r>
              <a:rPr sz="1600" b="1" dirty="0" err="1">
                <a:solidFill>
                  <a:srgbClr val="1A1A2E"/>
                </a:solidFill>
                <a:latin typeface="Calibri"/>
              </a:rPr>
              <a:t>api</a:t>
            </a:r>
            <a:r>
              <a:rPr sz="1600" b="1" dirty="0">
                <a:solidFill>
                  <a:srgbClr val="1A1A2E"/>
                </a:solidFill>
                <a:latin typeface="Calibri"/>
              </a:rPr>
              <a:t>/assets  </a:t>
            </a:r>
            <a:r>
              <a:rPr sz="1600" b="1" dirty="0">
                <a:solidFill>
                  <a:srgbClr val="534AB7"/>
                </a:solidFill>
                <a:latin typeface="Calibri"/>
              </a:rPr>
              <a:t>[Logged In]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5F5E5A"/>
                </a:solidFill>
                <a:latin typeface="Calibri"/>
              </a:rPr>
              <a:t>Retrieves list of all monitored servers and live health metrics</a:t>
            </a:r>
          </a:p>
          <a:p>
            <a:r>
              <a:rPr sz="1600" i="1" dirty="0">
                <a:solidFill>
                  <a:srgbClr val="3C3489"/>
                </a:solidFill>
                <a:latin typeface="Calibri"/>
              </a:rPr>
              <a:t>Payload / Response: -&gt; [ { id: 1, </a:t>
            </a:r>
            <a:r>
              <a:rPr sz="1600" i="1" dirty="0" err="1">
                <a:solidFill>
                  <a:srgbClr val="3C3489"/>
                </a:solidFill>
                <a:latin typeface="Calibri"/>
              </a:rPr>
              <a:t>assetName</a:t>
            </a:r>
            <a:r>
              <a:rPr sz="1600" i="1" dirty="0">
                <a:solidFill>
                  <a:srgbClr val="3C3489"/>
                </a:solidFill>
                <a:latin typeface="Calibri"/>
              </a:rPr>
              <a:t>: 'Web-01', </a:t>
            </a:r>
            <a:r>
              <a:rPr sz="1600" i="1" dirty="0" err="1">
                <a:solidFill>
                  <a:srgbClr val="3C3489"/>
                </a:solidFill>
                <a:latin typeface="Calibri"/>
              </a:rPr>
              <a:t>cpuUsage</a:t>
            </a:r>
            <a:r>
              <a:rPr sz="1600" i="1" dirty="0">
                <a:solidFill>
                  <a:srgbClr val="3C3489"/>
                </a:solidFill>
                <a:latin typeface="Calibri"/>
              </a:rPr>
              <a:t>: 45 }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64408"/>
            <a:ext cx="10728655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3447288"/>
            <a:ext cx="1097280" cy="612648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3C3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489"/>
                </a:solidFill>
                <a:latin typeface="Calibri"/>
              </a:defRPr>
            </a:pPr>
            <a:r>
              <a:rPr sz="1600" dirty="0"/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401568"/>
            <a:ext cx="8961120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/</a:t>
            </a:r>
            <a:r>
              <a:rPr sz="1600" b="1" dirty="0" err="1">
                <a:solidFill>
                  <a:srgbClr val="1A1A2E"/>
                </a:solidFill>
                <a:latin typeface="Calibri"/>
              </a:rPr>
              <a:t>api</a:t>
            </a:r>
            <a:r>
              <a:rPr sz="1600" b="1" dirty="0">
                <a:solidFill>
                  <a:srgbClr val="1A1A2E"/>
                </a:solidFill>
                <a:latin typeface="Calibri"/>
              </a:rPr>
              <a:t>/assets  </a:t>
            </a:r>
            <a:r>
              <a:rPr sz="1600" b="1" dirty="0">
                <a:solidFill>
                  <a:srgbClr val="534AB7"/>
                </a:solidFill>
                <a:latin typeface="Calibri"/>
              </a:rPr>
              <a:t>[Admin Only]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5F5E5A"/>
                </a:solidFill>
                <a:latin typeface="Calibri"/>
              </a:rPr>
              <a:t>Registers and provisions a new cloud infrastructure asset</a:t>
            </a:r>
          </a:p>
          <a:p>
            <a:r>
              <a:rPr sz="1600" i="1" dirty="0">
                <a:solidFill>
                  <a:srgbClr val="3C3489"/>
                </a:solidFill>
                <a:latin typeface="Calibri"/>
              </a:rPr>
              <a:t>Payload / Response: { </a:t>
            </a:r>
            <a:r>
              <a:rPr sz="1600" i="1" dirty="0" err="1">
                <a:solidFill>
                  <a:srgbClr val="3C3489"/>
                </a:solidFill>
                <a:latin typeface="Calibri"/>
              </a:rPr>
              <a:t>assetName</a:t>
            </a:r>
            <a:r>
              <a:rPr sz="1600" i="1" dirty="0">
                <a:solidFill>
                  <a:srgbClr val="3C3489"/>
                </a:solidFill>
                <a:latin typeface="Calibri"/>
              </a:rPr>
              <a:t>: 'DB-02', </a:t>
            </a:r>
            <a:r>
              <a:rPr sz="1600" i="1" dirty="0" err="1">
                <a:solidFill>
                  <a:srgbClr val="3C3489"/>
                </a:solidFill>
                <a:latin typeface="Calibri"/>
              </a:rPr>
              <a:t>assetType</a:t>
            </a:r>
            <a:r>
              <a:rPr sz="1600" i="1" dirty="0">
                <a:solidFill>
                  <a:srgbClr val="3C3489"/>
                </a:solidFill>
                <a:latin typeface="Calibri"/>
              </a:rPr>
              <a:t>: 'SERVER' } -&gt; Saved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45736"/>
            <a:ext cx="10728655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4928615"/>
            <a:ext cx="1097280" cy="526253"/>
          </a:xfrm>
          <a:prstGeom prst="roundRect">
            <a:avLst/>
          </a:prstGeom>
          <a:solidFill>
            <a:srgbClr val="FCEBEB"/>
          </a:solidFill>
          <a:ln w="12700">
            <a:solidFill>
              <a:srgbClr val="79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91F1F"/>
                </a:solidFill>
                <a:latin typeface="Calibri"/>
              </a:defRPr>
            </a:pPr>
            <a:r>
              <a:rPr sz="1600" dirty="0"/>
              <a:t>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882896"/>
            <a:ext cx="8961120" cy="764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/</a:t>
            </a:r>
            <a:r>
              <a:rPr sz="1600" b="1" dirty="0" err="1">
                <a:solidFill>
                  <a:srgbClr val="1A1A2E"/>
                </a:solidFill>
                <a:latin typeface="Calibri"/>
              </a:rPr>
              <a:t>api</a:t>
            </a:r>
            <a:r>
              <a:rPr sz="1600" b="1" dirty="0">
                <a:solidFill>
                  <a:srgbClr val="1A1A2E"/>
                </a:solidFill>
                <a:latin typeface="Calibri"/>
              </a:rPr>
              <a:t>/assets/{id}  </a:t>
            </a:r>
            <a:r>
              <a:rPr sz="1600" b="1" dirty="0">
                <a:solidFill>
                  <a:srgbClr val="534AB7"/>
                </a:solidFill>
                <a:latin typeface="Calibri"/>
              </a:rPr>
              <a:t>[Admin Only]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5F5E5A"/>
                </a:solidFill>
                <a:latin typeface="Calibri"/>
              </a:rPr>
              <a:t>Decommissions and permanently deletes an asset by ID</a:t>
            </a:r>
          </a:p>
          <a:p>
            <a:r>
              <a:rPr sz="1600" i="1" dirty="0">
                <a:solidFill>
                  <a:srgbClr val="3C3489"/>
                </a:solidFill>
                <a:latin typeface="Calibri"/>
              </a:rPr>
              <a:t>Payload / Response: Path: id=5 -&gt; HTTP 204 No Content (Deleted)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3592" y="709644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MONITORING PIPELINE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How Monitoring &amp; Alerts Work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A simple 4-step sequence: Check -&gt; Compare -&gt; Alert -&gt; Notify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423160" cy="17373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spcAft>
                <a:spcPts val="400"/>
              </a:spcAft>
            </a:pPr>
            <a:r>
              <a:rPr sz="1400" b="1" dirty="0">
                <a:solidFill>
                  <a:srgbClr val="3C3489"/>
                </a:solidFill>
                <a:latin typeface="Calibri"/>
              </a:rPr>
              <a:t>1. CHECK SERVERS</a:t>
            </a:r>
          </a:p>
          <a:p>
            <a:r>
              <a:rPr sz="1400" dirty="0">
                <a:solidFill>
                  <a:srgbClr val="5F5E5A"/>
                </a:solidFill>
                <a:latin typeface="Calibri"/>
              </a:rPr>
              <a:t>Background job runs every 60s.
Polls latest metrics for all servers</a:t>
            </a:r>
            <a:r>
              <a:rPr sz="950" dirty="0">
                <a:solidFill>
                  <a:srgbClr val="5F5E5A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24231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34AB7"/>
                </a:solidFill>
                <a:latin typeface="Calibri"/>
              </a:rPr>
              <a:t>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83080"/>
            <a:ext cx="2423160" cy="17373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spcAft>
                <a:spcPts val="400"/>
              </a:spcAft>
            </a:pPr>
            <a:r>
              <a:rPr sz="1400" b="1" dirty="0">
                <a:solidFill>
                  <a:srgbClr val="3C3489"/>
                </a:solidFill>
                <a:latin typeface="Calibri"/>
              </a:rPr>
              <a:t>2. COMPARE USAGE</a:t>
            </a:r>
          </a:p>
          <a:p>
            <a:r>
              <a:rPr sz="1400" dirty="0">
                <a:solidFill>
                  <a:srgbClr val="5F5E5A"/>
                </a:solidFill>
                <a:latin typeface="Calibri"/>
              </a:rPr>
              <a:t>Evaluates metric thresholds:
• ≥90%: CRITICAL
• ≥</a:t>
            </a:r>
            <a:r>
              <a:rPr lang="en-IN" sz="1400" dirty="0">
                <a:solidFill>
                  <a:srgbClr val="5F5E5A"/>
                </a:solidFill>
                <a:latin typeface="Calibri"/>
              </a:rPr>
              <a:t>8</a:t>
            </a:r>
            <a:r>
              <a:rPr sz="1400" dirty="0">
                <a:solidFill>
                  <a:srgbClr val="5F5E5A"/>
                </a:solidFill>
                <a:latin typeface="Calibri"/>
              </a:rPr>
              <a:t>0%: WARNING
• &lt;</a:t>
            </a:r>
            <a:r>
              <a:rPr lang="en-IN" sz="1400" dirty="0">
                <a:solidFill>
                  <a:srgbClr val="5F5E5A"/>
                </a:solidFill>
                <a:latin typeface="Calibri"/>
              </a:rPr>
              <a:t>8</a:t>
            </a:r>
            <a:r>
              <a:rPr sz="1400" dirty="0">
                <a:solidFill>
                  <a:srgbClr val="5F5E5A"/>
                </a:solidFill>
                <a:latin typeface="Calibri"/>
              </a:rPr>
              <a:t>0%: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97880" y="24231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34AB7"/>
                </a:solidFill>
                <a:latin typeface="Calibri"/>
              </a:rP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2423160" cy="17373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spcAft>
                <a:spcPts val="400"/>
              </a:spcAft>
            </a:pPr>
            <a:r>
              <a:rPr sz="1400" b="1" dirty="0">
                <a:solidFill>
                  <a:srgbClr val="3C3489"/>
                </a:solidFill>
                <a:latin typeface="Calibri"/>
              </a:rPr>
              <a:t>3. CREATE ALERT</a:t>
            </a:r>
          </a:p>
          <a:p>
            <a:r>
              <a:rPr sz="1400" dirty="0">
                <a:solidFill>
                  <a:srgbClr val="5F5E5A"/>
                </a:solidFill>
                <a:latin typeface="Calibri"/>
              </a:rPr>
              <a:t>Creates Alert record on breach.
Sets status to OPEN and links to server</a:t>
            </a:r>
            <a:r>
              <a:rPr sz="950" dirty="0">
                <a:solidFill>
                  <a:srgbClr val="5F5E5A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34AB7"/>
                </a:solidFill>
                <a:latin typeface="Calibri"/>
              </a:rP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83080"/>
            <a:ext cx="2499056" cy="17373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37160" rIns="109728" rtlCol="0" anchor="ctr"/>
          <a:lstStyle/>
          <a:p>
            <a:pPr algn="ctr">
              <a:spcAft>
                <a:spcPts val="400"/>
              </a:spcAft>
            </a:pPr>
            <a:r>
              <a:rPr sz="1400" b="1" dirty="0">
                <a:solidFill>
                  <a:srgbClr val="3C3489"/>
                </a:solidFill>
                <a:latin typeface="Calibri"/>
              </a:rPr>
              <a:t>4. SEND ALERT</a:t>
            </a:r>
          </a:p>
          <a:p>
            <a:r>
              <a:rPr lang="en-IN" sz="1400" dirty="0">
                <a:solidFill>
                  <a:srgbClr val="5F5E5A"/>
                </a:solidFill>
              </a:rPr>
              <a:t>• 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Duplicate Alert Check</a:t>
            </a:r>
            <a:r>
              <a:rPr sz="1400" dirty="0">
                <a:solidFill>
                  <a:srgbClr val="5F5E5A"/>
                </a:solidFill>
                <a:latin typeface="Calibri"/>
              </a:rPr>
              <a:t>
• CRITICAL: Twilio phone SMS
• WARNING: Email alert
• Updates dashboard badge</a:t>
            </a:r>
            <a:r>
              <a:rPr lang="en-IN" sz="1400" dirty="0">
                <a:solidFill>
                  <a:srgbClr val="5F5E5A"/>
                </a:solidFill>
                <a:latin typeface="Calibri"/>
              </a:rPr>
              <a:t> </a:t>
            </a:r>
            <a:endParaRPr sz="14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728655" cy="233172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400"/>
              </a:spcAft>
            </a:pPr>
            <a:r>
              <a:rPr sz="1600" b="1" dirty="0">
                <a:solidFill>
                  <a:srgbClr val="3C3489"/>
                </a:solidFill>
                <a:latin typeface="Calibri"/>
              </a:rPr>
              <a:t>REAL EXAMPLE WALKTHROUGH (END-TO-END PROOF)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5F5E5A"/>
                </a:solidFill>
                <a:latin typeface="Calibri"/>
              </a:rPr>
              <a:t>1. Metric Spike: Server 'Database-01' reaches 94.5% CPU and 91% memory.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5F5E5A"/>
                </a:solidFill>
                <a:latin typeface="Calibri"/>
              </a:rPr>
              <a:t>2. Classification: System identifies ≥90% threshold and marks server CRITICAL.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5F5E5A"/>
                </a:solidFill>
                <a:latin typeface="Calibri"/>
              </a:rPr>
              <a:t>3. Alert Persisted: OPEN incident record saved in DB linked to 'Database-01'.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5F5E5A"/>
                </a:solidFill>
                <a:latin typeface="Calibri"/>
              </a:rPr>
              <a:t>4. </a:t>
            </a:r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Duplicate Alert Check: Prevents repeated OPEN alerts for the same asset and severity.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5F5E5A"/>
                </a:solidFill>
                <a:latin typeface="Calibri"/>
              </a:rPr>
              <a:t>5. SMS Dispatched: Twilio triggers immediate cellular SMS to admin mobile.</a:t>
            </a:r>
          </a:p>
          <a:p>
            <a:pPr>
              <a:spcAft>
                <a:spcPts val="200"/>
              </a:spcAft>
            </a:pPr>
            <a:r>
              <a:rPr sz="1600" dirty="0">
                <a:solidFill>
                  <a:srgbClr val="5F5E5A"/>
                </a:solidFill>
                <a:latin typeface="Calibri"/>
              </a:rPr>
              <a:t>6. UI Synchronized: Dashboard updates red critical count badge immediately.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51386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MILESTONE 1 DELIVERABLES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Milestone 1 — Initial Setup &amp; Foundation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Starting Spring Boot, PostgreSQL, and our React 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434840" cy="429768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Project Started: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Set up Java 21 and Spring Boot 4 backend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Database Connected: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Connected PostgreSQL with fast connection pooling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Organized Folders: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Separated controllers, services, and repositories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First Server Table: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Created table to store server names and usage metrics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React App Ready: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Set up React 18 with Vite for the frontend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Clean Start Tested: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Verified server starts up cleanly with no errors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783080"/>
            <a:ext cx="601675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4249" y="1874519"/>
            <a:ext cx="39696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1A1A2E"/>
                </a:solidFill>
                <a:latin typeface="Calibri"/>
              </a:rPr>
              <a:t>Terminal — Spring Boot 4.1.0 &amp; Tomcat (Port 8080)</a:t>
            </a:r>
          </a:p>
        </p:txBody>
      </p:sp>
      <p:pic>
        <p:nvPicPr>
          <p:cNvPr id="8" name="Picture 7" descr="slide_12_pic_Pictur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240280"/>
            <a:ext cx="5650992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12220" y="5486400"/>
            <a:ext cx="5160579" cy="457200"/>
          </a:xfrm>
          <a:prstGeom prst="round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 b="1" dirty="0">
                <a:solidFill>
                  <a:srgbClr val="27500A"/>
                </a:solidFill>
                <a:latin typeface="Calibri"/>
              </a:rPr>
              <a:t>✓ Verified: Java 21 backend and PostgreSQL connection pool initialized cleanly.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0016" y="742116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MILESTONE 2 DELIVERABLES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Milestone 2 — Server Management &amp; Dashboard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Adding server CRUD APIs and building our live React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434840" cy="429768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Server CRUD APIs: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Built endpoints to add, view, update, and delete servers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Fast Summary Endpoint: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Returns total, online, and warning counts in one call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Cleaner Code: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Used Java builders and simple null checks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Live React Dashboard: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Clean cards show online, warning, and critical servers</a:t>
            </a:r>
            <a:endParaRPr lang="en-IN" sz="1400" dirty="0">
              <a:solidFill>
                <a:srgbClr val="5F5E5A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System Performance: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Dashboard metric bars show CPU, memory, and uptime at a glance.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</a:rPr>
              <a:t>▸  </a:t>
            </a:r>
            <a:r>
              <a:rPr lang="en-US" sz="1400" b="1" dirty="0">
                <a:solidFill>
                  <a:srgbClr val="1A1A2E"/>
                </a:solidFill>
                <a:latin typeface="Calibri"/>
              </a:rPr>
              <a:t>Add Server Dialog: </a:t>
            </a:r>
            <a:r>
              <a:rPr lang="en-US" sz="1400" dirty="0">
                <a:solidFill>
                  <a:srgbClr val="5F5E5A"/>
                </a:solidFill>
                <a:latin typeface="Calibri"/>
              </a:rPr>
              <a:t>Simple popup form to register a new server easily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783080"/>
            <a:ext cx="601675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04344" y="1874519"/>
            <a:ext cx="46894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1A1A2E"/>
                </a:solidFill>
                <a:latin typeface="Calibri"/>
              </a:rPr>
              <a:t>Chrome — Cloud Security Monitoring Dashboard (port 5173)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27834" y="2240280"/>
            <a:ext cx="5142788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27834" y="5486400"/>
            <a:ext cx="5023945" cy="457200"/>
          </a:xfrm>
          <a:prstGeom prst="round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 b="1" dirty="0">
                <a:solidFill>
                  <a:srgbClr val="27500A"/>
                </a:solidFill>
                <a:latin typeface="Calibri"/>
              </a:rPr>
              <a:t>✓ Verified: Live dashboard tracks 12 assets with 91.67% uptime and </a:t>
            </a:r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performance</a:t>
            </a:r>
            <a:r>
              <a:rPr lang="en-IN" sz="1400" dirty="0"/>
              <a:t> </a:t>
            </a:r>
            <a:r>
              <a:rPr sz="1400" b="1" dirty="0">
                <a:solidFill>
                  <a:srgbClr val="27500A"/>
                </a:solidFill>
                <a:latin typeface="Calibri"/>
              </a:rPr>
              <a:t>metrics</a:t>
            </a:r>
            <a:r>
              <a:rPr lang="en-IN" sz="1400" b="1" dirty="0">
                <a:solidFill>
                  <a:srgbClr val="27500A"/>
                </a:solidFill>
                <a:latin typeface="Calibri"/>
              </a:rPr>
              <a:t>.</a:t>
            </a:r>
            <a:endParaRPr sz="1400" b="1" dirty="0">
              <a:solidFill>
                <a:srgbClr val="27500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9936" y="7315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MILESTONE 3 DELIVERABLES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Milestone 3 — Automatic Health Checks &amp; Alerts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A background timer that checks health and saves alert tickets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434840" cy="429768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60-Second Auto Check: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Background job checks all servers every minute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Simple Rule Check: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Flags servers as Warning at </a:t>
            </a:r>
            <a:r>
              <a:rPr lang="en-IN" sz="1400" dirty="0">
                <a:solidFill>
                  <a:srgbClr val="5F5E5A"/>
                </a:solidFill>
                <a:latin typeface="Calibri"/>
              </a:rPr>
              <a:t>8</a:t>
            </a:r>
            <a:r>
              <a:rPr sz="1400" dirty="0">
                <a:solidFill>
                  <a:srgbClr val="5F5E5A"/>
                </a:solidFill>
                <a:latin typeface="Calibri"/>
              </a:rPr>
              <a:t>0% and Critical at 90%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Alerts Saved to DB: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Saves open alert tickets linked to the problematic server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Alert Lifecycle: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Tracks whether an alert is Open or Resolved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Resolve Alert Button: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Lets an admin mark an issue as fixed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Basic Login Guard: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Added initial token checks to protected monitoring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783080"/>
            <a:ext cx="601675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64264" y="1874519"/>
            <a:ext cx="45695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1A1A2E"/>
                </a:solidFill>
                <a:latin typeface="Calibri"/>
              </a:rPr>
              <a:t>Dashboard — Current Assets &amp; Automated Critical Incident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4040" t="2894" r="1766" b="2862"/>
          <a:stretch>
            <a:fillRect/>
          </a:stretch>
        </p:blipFill>
        <p:spPr>
          <a:xfrm>
            <a:off x="5989449" y="2228015"/>
            <a:ext cx="4919213" cy="341707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96302" y="5486400"/>
            <a:ext cx="5139559" cy="457200"/>
          </a:xfrm>
          <a:prstGeom prst="round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 b="1" dirty="0">
                <a:solidFill>
                  <a:srgbClr val="27500A"/>
                </a:solidFill>
                <a:latin typeface="Calibri"/>
              </a:rPr>
              <a:t>✓ Verified: Automated incident lifecycle (OPEN → RESOLVED) verified end-to-end</a:t>
            </a:r>
            <a:r>
              <a:rPr sz="950" b="1" dirty="0">
                <a:solidFill>
                  <a:srgbClr val="27500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MILESTONE 4 DELIVERABLES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Milestone 4 — Login Roles &amp; Phone SMS Alerts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Two-token login, Admin vs Viewer permissions, and Twilio 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434840" cy="429768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 algn="ctr"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Two-Token Login: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15-minute access token and 7-day refresh token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Admin vs Viewer Roles: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Admins have full edit buttons; Viewers can only look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Backend Permission Checks: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Server stops Viewers from calling add or delete endpoints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Automatic Token Refresh: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Frontend keeps users logged in without annoying interruptions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Real Twilio Phone SMS: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Sends an emergency text message for critical issues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lang="en-IN" sz="1400" b="1" dirty="0">
                <a:solidFill>
                  <a:schemeClr val="tx1"/>
                </a:solidFill>
              </a:rPr>
              <a:t>Duplicate Alert Prevention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Prevents repeated OPEN alerts for the same asset and severity.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40680" y="1783080"/>
            <a:ext cx="601675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99296" y="1874519"/>
            <a:ext cx="40995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1A1A2E"/>
                </a:solidFill>
                <a:latin typeface="Calibri"/>
              </a:rPr>
              <a:t>Gmail — Automated Incident Alert Delivered [SMTP]</a:t>
            </a:r>
          </a:p>
        </p:txBody>
      </p:sp>
      <p:pic>
        <p:nvPicPr>
          <p:cNvPr id="8" name="Picture 7" descr="slide_15_pic_Pictur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240280"/>
            <a:ext cx="5650992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885793" y="5486400"/>
            <a:ext cx="4992414" cy="457200"/>
          </a:xfrm>
          <a:prstGeom prst="round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 b="1" dirty="0">
                <a:solidFill>
                  <a:srgbClr val="27500A"/>
                </a:solidFill>
                <a:latin typeface="Calibri"/>
              </a:rPr>
              <a:t>✓ Verified: Automated out-of-band email notification delivered to admin inbox</a:t>
            </a:r>
            <a:r>
              <a:rPr sz="950" b="1" dirty="0">
                <a:solidFill>
                  <a:srgbClr val="27500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7627" y="730562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TESTING PROOF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Postman Testing Evidence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Real API tests showing status codes, tokens, and role restrictions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434840" cy="429768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182880" rtlCol="0" anchor="ctr"/>
          <a:lstStyle/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Complete Postman Suite: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Tested all login, server, and alert endpoints thoroughly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Status 200 OK Confirmed: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Verified that correct requests return clean JSON data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Status 401 Block Confirmed: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Rejects requests without login tokens immediately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Status 403 Forbidden Confirmed: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Proves Viewers cannot delete or add servers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Token Refresh Confirmed: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Proves sending a refresh token gives back a new access token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Database Updated Confirmed: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Confirmed database values match the API test results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Role-Based Access Control Proof: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Viewer role → 403 Forbidden, Admin role → 200 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783080"/>
            <a:ext cx="6016752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61955" y="1874519"/>
            <a:ext cx="45742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1A1A2E"/>
                </a:solidFill>
                <a:latin typeface="Calibri"/>
              </a:rPr>
              <a:t>Postman — POST /</a:t>
            </a:r>
            <a:r>
              <a:rPr sz="1400" b="1" dirty="0" err="1">
                <a:solidFill>
                  <a:srgbClr val="1A1A2E"/>
                </a:solidFill>
                <a:latin typeface="Calibri"/>
              </a:rPr>
              <a:t>api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/auth/login [Status: 200 OK • 250ms]</a:t>
            </a:r>
          </a:p>
        </p:txBody>
      </p:sp>
      <p:pic>
        <p:nvPicPr>
          <p:cNvPr id="8" name="Picture 7" descr="slide_16_pic_Picture_14.png"/>
          <p:cNvPicPr>
            <a:picLocks noChangeAspect="1"/>
          </p:cNvPicPr>
          <p:nvPr/>
        </p:nvPicPr>
        <p:blipFill>
          <a:blip r:embed="rId2"/>
          <a:srcRect l="24716" b="14312"/>
          <a:stretch>
            <a:fillRect/>
          </a:stretch>
        </p:blipFill>
        <p:spPr>
          <a:xfrm>
            <a:off x="5914273" y="2385799"/>
            <a:ext cx="5252124" cy="2664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022428" y="5486400"/>
            <a:ext cx="4713729" cy="457200"/>
          </a:xfrm>
          <a:prstGeom prst="round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 b="1" dirty="0">
                <a:solidFill>
                  <a:srgbClr val="27500A"/>
                </a:solidFill>
                <a:latin typeface="Calibri"/>
              </a:rPr>
              <a:t>✓ Verified: HTTP 200 OK with dual JWT tokens (15-min access &amp; 7-day refresh).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6046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SECURITY SETUP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How We Keep the System Safe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Simple, solid protections across passwords, tokens, and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Scrambled Passwords: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Passwords hashed with </a:t>
            </a:r>
            <a:r>
              <a:rPr sz="1600" dirty="0" err="1">
                <a:solidFill>
                  <a:srgbClr val="5F5E5A"/>
                </a:solidFill>
                <a:latin typeface="Calibri"/>
              </a:rPr>
              <a:t>BCrypt</a:t>
            </a:r>
            <a:r>
              <a:rPr sz="1600" dirty="0">
                <a:solidFill>
                  <a:srgbClr val="5F5E5A"/>
                </a:solidFill>
                <a:latin typeface="Calibri"/>
              </a:rPr>
              <a:t> so they are never plain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2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Short 15-Minute Tokens: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Limits damage even if a token is accidentally leaked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4460" y="342900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Server-Side Role Checks: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Checks user roles on the backend so users cannot bypass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2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8292" y="3432048"/>
            <a:ext cx="4434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Safe Database Queries: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Spring Data JPA uses parameterized queries for repository operations, reducing SQL injection risks.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4460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Hidden Error Details: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Hides technical database errors so attackers cannot inspect them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Duplicate Alert Prevention:</a:t>
            </a:r>
            <a:r>
              <a:rPr lang="en-IN" sz="1600" dirty="0"/>
              <a:t> Prevents duplicate OPEN alerts for the same asset and severity.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77724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534AB7"/>
                </a:solidFill>
                <a:latin typeface="Calibri"/>
              </a:rPr>
              <a:t>CHALLENGES FACED</a:t>
            </a:r>
          </a:p>
          <a:p>
            <a:pPr>
              <a:spcAft>
                <a:spcPts val="200"/>
              </a:spcAft>
            </a:pPr>
            <a:r>
              <a:rPr sz="2300" b="1">
                <a:solidFill>
                  <a:srgbClr val="1A1A2E"/>
                </a:solidFill>
                <a:latin typeface="Cambria"/>
              </a:rPr>
              <a:t>Problems We Solved &amp; What We Learned</a:t>
            </a:r>
          </a:p>
          <a:p>
            <a:r>
              <a:rPr sz="1100">
                <a:solidFill>
                  <a:srgbClr val="5F5E5A"/>
                </a:solidFill>
                <a:latin typeface="Calibri"/>
              </a:rPr>
              <a:t>Practical solutions to challenges we faced during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486400" cy="429768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rtlCol="0" anchor="ctr"/>
          <a:lstStyle/>
          <a:p>
            <a:pPr>
              <a:spcAft>
                <a:spcPts val="7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Double Token Refresh: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Queued API calls prevent duplicate refresh requests.</a:t>
            </a:r>
          </a:p>
          <a:p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lang="en-IN" sz="1400" b="1" dirty="0">
                <a:solidFill>
                  <a:schemeClr val="tx1"/>
                </a:solidFill>
              </a:rPr>
              <a:t>Duplicate Alert Prevention:</a:t>
            </a:r>
            <a:r>
              <a:rPr lang="en-IN" sz="1400" dirty="0">
                <a:solidFill>
                  <a:schemeClr val="tx1"/>
                </a:solidFill>
              </a:rPr>
              <a:t> 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Prevented repeated OPEN alerts for the same asset and severity.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Keeping Screen Updated: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Connected background checks smoothly without reload.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Messy Database Errors: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Central error handler masks internal DB error details.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Hiding Private Keys: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Stored Twilio API keys and mail passwords in local config.</a:t>
            </a:r>
          </a:p>
          <a:p>
            <a:pPr>
              <a:spcAft>
                <a:spcPts val="700"/>
              </a:spcAft>
            </a:pPr>
            <a:r>
              <a:rPr sz="1400" b="1" dirty="0">
                <a:solidFill>
                  <a:srgbClr val="534AB7"/>
                </a:solidFill>
                <a:latin typeface="Calibri"/>
              </a:rPr>
              <a:t>▸  </a:t>
            </a:r>
            <a:r>
              <a:rPr sz="1400" b="1" dirty="0">
                <a:solidFill>
                  <a:srgbClr val="1A1A2E"/>
                </a:solidFill>
                <a:latin typeface="Calibri"/>
              </a:rPr>
              <a:t>Faster Screen Loading: </a:t>
            </a:r>
            <a:r>
              <a:rPr sz="1400" dirty="0">
                <a:solidFill>
                  <a:srgbClr val="5F5E5A"/>
                </a:solidFill>
                <a:latin typeface="Calibri"/>
              </a:rPr>
              <a:t>Aggregated summary DTO loads metrics in one 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4258" y="1783080"/>
            <a:ext cx="4967935" cy="4297680"/>
          </a:xfrm>
          <a:prstGeom prst="roundRect">
            <a:avLst/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/>
            <a:endParaRPr lang="en-IN" sz="1200" b="1" dirty="0">
              <a:solidFill>
                <a:srgbClr val="1A1A2E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ACB537-6A0B-91DC-94CB-73986186E5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642"/>
          <a:stretch>
            <a:fillRect/>
          </a:stretch>
        </p:blipFill>
        <p:spPr>
          <a:xfrm>
            <a:off x="7830137" y="2554406"/>
            <a:ext cx="2212196" cy="27215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DE254C-94FD-F6A5-DF8F-561C91A48E0F}"/>
              </a:ext>
            </a:extLst>
          </p:cNvPr>
          <p:cNvSpPr txBox="1"/>
          <p:nvPr/>
        </p:nvSpPr>
        <p:spPr>
          <a:xfrm>
            <a:off x="5863655" y="2040671"/>
            <a:ext cx="6145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rgbClr val="1A1A2E"/>
                </a:solidFill>
                <a:latin typeface="Calibri"/>
              </a:rPr>
              <a:t>SMS — Automated Incident Alert Delivered [Twilio]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4B0A6768-3A95-503E-07A6-E89DE676D199}"/>
              </a:ext>
            </a:extLst>
          </p:cNvPr>
          <p:cNvSpPr/>
          <p:nvPr/>
        </p:nvSpPr>
        <p:spPr>
          <a:xfrm>
            <a:off x="6597110" y="5408457"/>
            <a:ext cx="4519312" cy="466555"/>
          </a:xfrm>
          <a:prstGeom prst="roundRect">
            <a:avLst/>
          </a:prstGeom>
          <a:solidFill>
            <a:srgbClr val="EAF3DE"/>
          </a:solidFill>
          <a:ln w="9525">
            <a:solidFill>
              <a:srgbClr val="275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400" b="1" dirty="0">
                <a:solidFill>
                  <a:srgbClr val="27500A"/>
                </a:solidFill>
                <a:latin typeface="Calibri"/>
              </a:rPr>
              <a:t>✓ Verified: Automated </a:t>
            </a:r>
            <a:r>
              <a:rPr lang="en-IN" sz="1400" b="1" dirty="0">
                <a:solidFill>
                  <a:srgbClr val="27500A"/>
                </a:solidFill>
                <a:latin typeface="Calibri"/>
              </a:rPr>
              <a:t>cellular</a:t>
            </a:r>
            <a:r>
              <a:rPr sz="1400" b="1" dirty="0">
                <a:solidFill>
                  <a:srgbClr val="27500A"/>
                </a:solidFill>
                <a:latin typeface="Calibri"/>
              </a:rPr>
              <a:t> notification delivered to admi</a:t>
            </a:r>
            <a:r>
              <a:rPr lang="en-IN" sz="1400" b="1" dirty="0">
                <a:solidFill>
                  <a:srgbClr val="27500A"/>
                </a:solidFill>
                <a:latin typeface="Calibri"/>
              </a:rPr>
              <a:t>nitrator</a:t>
            </a:r>
            <a:endParaRPr sz="950" b="1" dirty="0">
              <a:solidFill>
                <a:srgbClr val="27500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49464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>
                <a:solidFill>
                  <a:srgbClr val="534AB7"/>
                </a:solidFill>
                <a:latin typeface="Calibri"/>
              </a:rPr>
              <a:t>SYSTEM VALUE</a:t>
            </a:r>
          </a:p>
          <a:p>
            <a:pPr>
              <a:spcAft>
                <a:spcPts val="200"/>
              </a:spcAft>
            </a:pPr>
            <a:r>
              <a:rPr sz="2300" b="1">
                <a:solidFill>
                  <a:srgbClr val="1A1A2E"/>
                </a:solidFill>
                <a:latin typeface="Cambria"/>
              </a:rPr>
              <a:t>Key System Highlights &amp; Strengths</a:t>
            </a:r>
          </a:p>
          <a:p>
            <a:r>
              <a:rPr sz="1100">
                <a:solidFill>
                  <a:srgbClr val="5F5E5A"/>
                </a:solidFill>
                <a:latin typeface="Calibri"/>
              </a:rPr>
              <a:t>How our monitoring platform delivers real-world reliability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60-Second Scheduled Checks: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Background job polls every server every 60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8292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Instant Crisis Alerts: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Twilio SMS alerts admins immediately during critical incidents.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2900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Duplicate Alert Prevention:</a:t>
            </a:r>
            <a:r>
              <a:rPr lang="en-IN" sz="1600" dirty="0"/>
              <a:t> Prevents duplicate OPEN alerts for the same asset and severity.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45352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2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8292" y="3432048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Strict Role Boundaries: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Backend enforces Admin edit rights and Viewer read-only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72457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Protected Server Data: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Parameterized JPA queries prevent SQL injection risks.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292" y="4888117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Fast Visual Dashboard: </a:t>
            </a:r>
            <a:r>
              <a:rPr lang="en-IN" sz="1600" dirty="0"/>
              <a:t>Real-time metric bars and status cards give cluster health at a glance.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E4960-8EBE-6C25-2BD0-279BCB73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81840B-5A5D-66E2-01F8-A02A1D0C9EC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02C4D4-3F2F-750C-2351-6D69B3D68BBC}"/>
              </a:ext>
            </a:extLst>
          </p:cNvPr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98075-BD36-F00C-4B44-9B0F9EEE5E70}"/>
              </a:ext>
            </a:extLst>
          </p:cNvPr>
          <p:cNvSpPr txBox="1"/>
          <p:nvPr/>
        </p:nvSpPr>
        <p:spPr>
          <a:xfrm>
            <a:off x="810178" y="689144"/>
            <a:ext cx="10728655" cy="918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en-IN" sz="1050" b="1" dirty="0">
                <a:solidFill>
                  <a:schemeClr val="accent4">
                    <a:lumMod val="75000"/>
                  </a:schemeClr>
                </a:solidFill>
              </a:rPr>
              <a:t>FUTURE VISION</a:t>
            </a:r>
            <a:endParaRPr sz="1050" b="1" dirty="0">
              <a:solidFill>
                <a:schemeClr val="accent4">
                  <a:lumMod val="75000"/>
                </a:schemeClr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lang="en-IN" sz="2300" b="1" dirty="0">
                <a:solidFill>
                  <a:srgbClr val="1A1A2E"/>
                </a:solidFill>
                <a:latin typeface="Cambria"/>
              </a:rPr>
              <a:t>Future Scope and Improvements</a:t>
            </a:r>
          </a:p>
          <a:p>
            <a:r>
              <a:rPr lang="en-IN" sz="1100" dirty="0">
                <a:solidFill>
                  <a:schemeClr val="bg1">
                    <a:lumMod val="50000"/>
                  </a:schemeClr>
                </a:solidFill>
              </a:rPr>
              <a:t>Building a smarter and more reliable server monitoring platform</a:t>
            </a:r>
          </a:p>
          <a:p>
            <a:endParaRPr lang="en-US" sz="11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9DD0BD9-B39A-C64D-436D-F26B12430107}"/>
              </a:ext>
            </a:extLst>
          </p:cNvPr>
          <p:cNvSpPr/>
          <p:nvPr/>
        </p:nvSpPr>
        <p:spPr>
          <a:xfrm>
            <a:off x="731520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DBE990-0458-535C-419D-45850DD74F55}"/>
              </a:ext>
            </a:extLst>
          </p:cNvPr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B4EDE-2387-185D-FDAC-35130C4BA519}"/>
              </a:ext>
            </a:extLst>
          </p:cNvPr>
          <p:cNvSpPr txBox="1"/>
          <p:nvPr/>
        </p:nvSpPr>
        <p:spPr>
          <a:xfrm>
            <a:off x="1371600" y="1965960"/>
            <a:ext cx="4434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AI-Based Predictive Monitoring</a:t>
            </a:r>
            <a:br>
              <a:rPr lang="en-IN" sz="1600" dirty="0"/>
            </a:br>
            <a:r>
              <a:rPr lang="en-IN" sz="1600" dirty="0"/>
              <a:t>Predict potential server failures by analysing historical CPU, memory, and health data.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6119F3A-CBB7-D8C1-BA30-3389910F7321}"/>
              </a:ext>
            </a:extLst>
          </p:cNvPr>
          <p:cNvSpPr/>
          <p:nvPr/>
        </p:nvSpPr>
        <p:spPr>
          <a:xfrm>
            <a:off x="6245352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BF5EFF-0CF4-4629-7AC5-5494D1C31113}"/>
              </a:ext>
            </a:extLst>
          </p:cNvPr>
          <p:cNvSpPr/>
          <p:nvPr/>
        </p:nvSpPr>
        <p:spPr>
          <a:xfrm>
            <a:off x="6428232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0A1DB0-919A-84E2-859E-638301E3F35A}"/>
              </a:ext>
            </a:extLst>
          </p:cNvPr>
          <p:cNvSpPr txBox="1"/>
          <p:nvPr/>
        </p:nvSpPr>
        <p:spPr>
          <a:xfrm>
            <a:off x="6908292" y="1965960"/>
            <a:ext cx="4434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Advanced Analytics &amp; Visualization</a:t>
            </a:r>
            <a:br>
              <a:rPr lang="en-IN" sz="1600" dirty="0"/>
            </a:br>
            <a:r>
              <a:rPr lang="en-IN" sz="1600" dirty="0"/>
              <a:t>Add detailed performance graphs, trends, and customizable dashboards for better insights.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865FF0-976D-1169-DE55-0A3BA52C5B53}"/>
              </a:ext>
            </a:extLst>
          </p:cNvPr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7D4314-2640-2C27-9313-E2576B93C918}"/>
              </a:ext>
            </a:extLst>
          </p:cNvPr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688AF9-4259-DBC5-C204-54DD3FE893F4}"/>
              </a:ext>
            </a:extLst>
          </p:cNvPr>
          <p:cNvSpPr txBox="1"/>
          <p:nvPr/>
        </p:nvSpPr>
        <p:spPr>
          <a:xfrm>
            <a:off x="1371600" y="3429000"/>
            <a:ext cx="4434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Scalable Multi-Server Support</a:t>
            </a:r>
            <a:br>
              <a:rPr lang="en-IN" sz="1600" dirty="0"/>
            </a:br>
            <a:r>
              <a:rPr lang="en-IN" sz="1600" dirty="0"/>
              <a:t>Extend monitoring to large-scale server environments and cloud infrastructure.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7D425F6-AB5E-89F5-1EDE-5DF5AEF61832}"/>
              </a:ext>
            </a:extLst>
          </p:cNvPr>
          <p:cNvSpPr/>
          <p:nvPr/>
        </p:nvSpPr>
        <p:spPr>
          <a:xfrm>
            <a:off x="6245352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688403-D334-2678-D8A1-93033203F669}"/>
              </a:ext>
            </a:extLst>
          </p:cNvPr>
          <p:cNvSpPr/>
          <p:nvPr/>
        </p:nvSpPr>
        <p:spPr>
          <a:xfrm>
            <a:off x="6428232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B0134-BDBB-4A4C-132E-79C6CC77FC2D}"/>
              </a:ext>
            </a:extLst>
          </p:cNvPr>
          <p:cNvSpPr txBox="1"/>
          <p:nvPr/>
        </p:nvSpPr>
        <p:spPr>
          <a:xfrm>
            <a:off x="6908292" y="3432048"/>
            <a:ext cx="4434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Mobile Application</a:t>
            </a:r>
            <a:br>
              <a:rPr lang="en-IN" sz="1600" dirty="0"/>
            </a:br>
            <a:r>
              <a:rPr lang="en-IN" sz="1600" dirty="0"/>
              <a:t>Provide real-time monitoring, alerts, and server controls through a mobile app.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A519C92-7DA0-F2E2-17DF-24F40FB5E862}"/>
              </a:ext>
            </a:extLst>
          </p:cNvPr>
          <p:cNvSpPr/>
          <p:nvPr/>
        </p:nvSpPr>
        <p:spPr>
          <a:xfrm>
            <a:off x="731520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F5A8A5-B3B9-128E-017E-0A7F5E32878D}"/>
              </a:ext>
            </a:extLst>
          </p:cNvPr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894D6C-104F-9C22-0692-D61B088FAA9E}"/>
              </a:ext>
            </a:extLst>
          </p:cNvPr>
          <p:cNvSpPr txBox="1"/>
          <p:nvPr/>
        </p:nvSpPr>
        <p:spPr>
          <a:xfrm>
            <a:off x="1371600" y="4872457"/>
            <a:ext cx="4434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Anomaly Detection</a:t>
            </a:r>
            <a:br>
              <a:rPr lang="en-IN" sz="1600" dirty="0"/>
            </a:br>
            <a:r>
              <a:rPr lang="en-IN" sz="1600" dirty="0"/>
              <a:t>Identify unusual server behaviour beyond fixed CPU, memory, or health thresholds.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5077862-1A79-5DDC-BEC5-096AD06AE43B}"/>
              </a:ext>
            </a:extLst>
          </p:cNvPr>
          <p:cNvSpPr/>
          <p:nvPr/>
        </p:nvSpPr>
        <p:spPr>
          <a:xfrm>
            <a:off x="6245352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BDCA455-C789-69AD-7F08-D91861A7FA78}"/>
              </a:ext>
            </a:extLst>
          </p:cNvPr>
          <p:cNvSpPr/>
          <p:nvPr/>
        </p:nvSpPr>
        <p:spPr>
          <a:xfrm>
            <a:off x="6428232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478003-677B-B27A-AB34-075387E7792B}"/>
              </a:ext>
            </a:extLst>
          </p:cNvPr>
          <p:cNvSpPr txBox="1"/>
          <p:nvPr/>
        </p:nvSpPr>
        <p:spPr>
          <a:xfrm>
            <a:off x="6908292" y="4888117"/>
            <a:ext cx="4434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IN" sz="1600" b="1" dirty="0"/>
              <a:t>Automated Incident Recovery</a:t>
            </a:r>
            <a:br>
              <a:rPr lang="en-IN" sz="1600" dirty="0"/>
            </a:br>
            <a:r>
              <a:rPr lang="en-IN" sz="1600" dirty="0"/>
              <a:t>Automatically restart failed services or servers and perform predefined recovery actions.</a:t>
            </a:r>
            <a:endParaRPr sz="1600" dirty="0">
              <a:solidFill>
                <a:srgbClr val="5F5E5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3130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153" y="812483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 b="1" dirty="0">
                <a:solidFill>
                  <a:srgbClr val="534AB7"/>
                </a:solidFill>
                <a:latin typeface="Calibri"/>
              </a:rPr>
              <a:t>SUMMARY</a:t>
            </a:r>
          </a:p>
          <a:p>
            <a:pPr>
              <a:spcAft>
                <a:spcPts val="200"/>
              </a:spcAft>
            </a:pPr>
            <a:r>
              <a:rPr sz="2300" b="1" dirty="0">
                <a:solidFill>
                  <a:srgbClr val="1A1A2E"/>
                </a:solidFill>
                <a:latin typeface="Cambria"/>
              </a:rPr>
              <a:t>Project Summary &amp; Conclusion</a:t>
            </a:r>
          </a:p>
          <a:p>
            <a:r>
              <a:rPr sz="1100" dirty="0">
                <a:solidFill>
                  <a:srgbClr val="5F5E5A"/>
                </a:solidFill>
                <a:latin typeface="Calibri"/>
              </a:rPr>
              <a:t>All four milestones completed, tested, and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All 4 Milestones Finished: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Successfully built, linked, and tested every assigned 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78308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96596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5432" y="196596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Reliable Server Checks: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60-second automatic timer spots high CPU and RAM usage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32048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Clean Database Design: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PostgreSQL tables keep servers, alerts, and roles organized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24612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2" y="342900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2" y="3435096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Real Role Security: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Admins can edit and Viewers can only view safely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Fast Phone SMS Alerts: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Twilio SMS and email make sure emergencies are never missed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4709160"/>
            <a:ext cx="5212080" cy="1280160"/>
          </a:xfrm>
          <a:prstGeom prst="roundRect">
            <a:avLst/>
          </a:prstGeom>
          <a:solidFill>
            <a:srgbClr val="EEEDFE"/>
          </a:solidFill>
          <a:ln w="9525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28232" y="4892040"/>
            <a:ext cx="365760" cy="365760"/>
          </a:xfrm>
          <a:prstGeom prst="ellipse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4892040"/>
            <a:ext cx="443484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dirty="0">
                <a:solidFill>
                  <a:srgbClr val="1A1A2E"/>
                </a:solidFill>
                <a:latin typeface="Calibri"/>
              </a:rPr>
              <a:t>Proven with Tests: </a:t>
            </a:r>
            <a:r>
              <a:rPr sz="1600" dirty="0">
                <a:solidFill>
                  <a:srgbClr val="5F5E5A"/>
                </a:solidFill>
                <a:latin typeface="Calibri"/>
              </a:rPr>
              <a:t>Automated Postman tests confirm everything works properly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282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2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232242"/>
          </a:solidFill>
          <a:ln w="19050">
            <a:solidFill>
              <a:srgbClr val="534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600"/>
              </a:spcAft>
            </a:pPr>
            <a:r>
              <a:rPr sz="5600" b="1">
                <a:solidFill>
                  <a:srgbClr val="FFFFFF"/>
                </a:solidFill>
                <a:latin typeface="Cambria"/>
              </a:rPr>
              <a:t>Thank You!</a:t>
            </a:r>
          </a:p>
          <a:p>
            <a:pPr algn="ctr"/>
            <a:r>
              <a:rPr sz="1800">
                <a:solidFill>
                  <a:srgbClr val="EEEDFE"/>
                </a:solidFill>
                <a:latin typeface="Calibri"/>
              </a:rPr>
              <a:t>Cloud Security Monitoring System with Incident Management Assistance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2765</Words>
  <Application>Microsoft Office PowerPoint</Application>
  <PresentationFormat>Widescreen</PresentationFormat>
  <Paragraphs>311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Nivetha</dc:creator>
  <cp:keywords/>
  <dc:description>generated using python-pptx</dc:description>
  <cp:lastModifiedBy>deepali singh</cp:lastModifiedBy>
  <cp:revision>17</cp:revision>
  <dcterms:created xsi:type="dcterms:W3CDTF">2013-01-27T09:14:16Z</dcterms:created>
  <dcterms:modified xsi:type="dcterms:W3CDTF">2026-09-16T10:12:21Z</dcterms:modified>
  <cp:category/>
</cp:coreProperties>
</file>