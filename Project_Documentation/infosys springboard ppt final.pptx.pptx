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6" r:id="rId16"/>
    <p:sldId id="275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E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5.png"/><Relationship Id="rId5" Type="http://schemas.openxmlformats.org/officeDocument/2006/relationships/image" Target="../media/image1.png"/><Relationship Id="rId15" Type="http://schemas.openxmlformats.org/officeDocument/2006/relationships/image" Target="../media/image16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2367" y="2053721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INFOSYS SPRINGBOARD INTERNSHIP 2026</a:t>
            </a:r>
          </a:p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CLOUD SECURITY MONITORING SYSTEM</a:t>
            </a:r>
          </a:p>
          <a:p>
            <a:pPr algn="ctr">
              <a:spcAft>
                <a:spcPts val="2400"/>
              </a:spcAft>
              <a:defRPr sz="2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INCIDENT MANAGEMENT ASSISTANCE</a:t>
            </a:r>
          </a:p>
          <a:p>
            <a:pPr algn="ctr">
              <a:spcBef>
                <a:spcPts val="5000"/>
              </a:spcBef>
              <a:spcAft>
                <a:spcPts val="1200"/>
              </a:spcAft>
              <a:defRPr sz="1600" b="1">
                <a:solidFill>
                  <a:srgbClr val="E0F2FE"/>
                </a:solidFill>
                <a:latin typeface="Segoe UI"/>
              </a:defRPr>
            </a:pPr>
            <a:r>
              <a:rPr dirty="0"/>
              <a:t>Project Mentor: VIJAY VASANTH</a:t>
            </a:r>
          </a:p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rPr dirty="0"/>
              <a:t>Team: NIVETHA V  ·  LAV SAXENA  ·  DEEPALI SINGH  ·  HRISHITHA DEY  ·  VINAYKUMAR  ·  RAKESH</a:t>
            </a:r>
          </a:p>
        </p:txBody>
      </p:sp>
      <p:pic>
        <p:nvPicPr>
          <p:cNvPr id="5" name="Picture 4" descr="ja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957" y="3314700"/>
            <a:ext cx="594360" cy="594360"/>
          </a:xfrm>
          <a:prstGeom prst="rect">
            <a:avLst/>
          </a:prstGeom>
        </p:spPr>
      </p:pic>
      <p:pic>
        <p:nvPicPr>
          <p:cNvPr id="6" name="Picture 5" descr="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1" y="3314700"/>
            <a:ext cx="594360" cy="594360"/>
          </a:xfrm>
          <a:prstGeom prst="rect">
            <a:avLst/>
          </a:prstGeom>
        </p:spPr>
      </p:pic>
      <p:pic>
        <p:nvPicPr>
          <p:cNvPr id="7" name="Picture 6" descr="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314700"/>
            <a:ext cx="594360" cy="594360"/>
          </a:xfrm>
          <a:prstGeom prst="rect">
            <a:avLst/>
          </a:prstGeom>
        </p:spPr>
      </p:pic>
      <p:pic>
        <p:nvPicPr>
          <p:cNvPr id="8" name="Picture 7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9" y="3314700"/>
            <a:ext cx="594360" cy="594360"/>
          </a:xfrm>
          <a:prstGeom prst="rect">
            <a:avLst/>
          </a:prstGeom>
        </p:spPr>
      </p:pic>
      <p:pic>
        <p:nvPicPr>
          <p:cNvPr id="9" name="Picture 8" descr="twil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907" y="3308131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1 ·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WHY SERVER MONITORING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Common operational failure modes in multi-server cloud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2 · 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Segoe UI"/>
              </a:defRPr>
            </a:pPr>
            <a:r>
              <a:t>MANUAL CLOUD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77440"/>
            <a:ext cx="46634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8" descr="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603" y="2669196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22120" y="2464676"/>
            <a:ext cx="379476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SERVER SPRAWL &amp; BLIND SPOTS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lang="en-US" dirty="0"/>
              <a:t>Hard to track missions without a single dashboard  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1005840" y="3566160"/>
            <a:ext cx="46634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1" descr="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603" y="3837017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37360" y="3632497"/>
            <a:ext cx="379476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SLOW MANUAL INSPECTIONS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lang="en-US" dirty="0"/>
              <a:t>Missed sudden CPU surge and RAM exhaustion. 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1005840" y="4754880"/>
            <a:ext cx="46634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4" descr="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93776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37360" y="4949785"/>
            <a:ext cx="3794760" cy="630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UNEXPECTED NODE CRASHES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lang="en-IN" dirty="0"/>
              <a:t>Workloads crash production servers without warning.  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Segoe UI"/>
              </a:defRPr>
            </a:pPr>
            <a:r>
              <a:t>OPERATIONAL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377440"/>
            <a:ext cx="46634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19" descr="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5176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46620" y="2651760"/>
            <a:ext cx="37947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NO ROLE ACCESS BOUNDARIES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lang="en-US" dirty="0"/>
              <a:t>Any users could accidentally delete critical servers. 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492240" y="3566160"/>
            <a:ext cx="46634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23" name="Picture 22" descr="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84048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08520" y="3837017"/>
            <a:ext cx="37947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NOTIFICATION NOISE &amp; FATIGUE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lang="en-US" dirty="0"/>
              <a:t>Alert spam causes teams to ignore real outages. 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6492240" y="4754880"/>
            <a:ext cx="46634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5" descr="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08520" y="4779486"/>
            <a:ext cx="379476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MISSED EMERGENCIES</a:t>
            </a:r>
            <a:endParaRPr lang="en-IN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lang="en-IN" dirty="0"/>
              <a:t>Without fast SMS, teams discover crashes too 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WHAT WE SET OUT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6 core capabilities engineered for automated cloud security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3 · PROJECT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 descr="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761440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ONE LIVE DASHBOARD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Single pane view for CPU, memory, &amp; disk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1761440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60-SECOND AUTO CHECKS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Scheduled background health polling daemon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39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2" descr="secu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74719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3279552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ROLE-BASED PERMISSIONS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Admin full control vs Viewer read-only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39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 descr="twil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474719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9440" y="3270199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MULTI-CHANNEL ALERTS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Critical Twilio SMS &amp; warning SMTP emails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8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98348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4778960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DUPLICATE SUPPRESSION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Prevents repeated OPEN alerts for same asset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1" descr="jw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98348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9440" y="4778960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DUAL-TOKEN AUTHENTICATION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15-min access &amp; 7-day refresh JWT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TECH STACK — LAYERED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Selected technologies with clean separation across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4 ·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7" descr="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028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212140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React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0" descr="v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184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317296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Vite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3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340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422452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Axios 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6636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6" descr="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949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63040" y="527608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CSS Visuals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201168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0" descr="jav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224028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87952" y="212140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Java 21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306324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3" descr="spr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3291840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87952" y="317296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Spring Boot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411480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6" descr="spr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434340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87952" y="422452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Spring Data JPA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6432" y="516636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29" descr="mav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9312" y="5394960"/>
            <a:ext cx="457200" cy="457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87952" y="527608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Apache Maven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201168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3" descr="postgresq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2240280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12864" y="212140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PostgreSQL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1344" y="306324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7" name="Picture 36" descr="redi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224" y="3291840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12864" y="317296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Redis Cache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411480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39" descr="tomca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4224" y="4343400"/>
            <a:ext cx="457200" cy="4572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912864" y="422452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Tomcat Server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81344" y="516636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3" name="Picture 42" descr="gi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4224" y="5394960"/>
            <a:ext cx="457200" cy="4572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912864" y="527608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Git Versioning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06256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Segoe UI"/>
              </a:defRPr>
            </a:pPr>
            <a:r>
              <a:t>SECURITY &amp; OPS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06256" y="201168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7" name="Picture 46" descr="securit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9136" y="2240280"/>
            <a:ext cx="457200" cy="4572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637776" y="212140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Spring Security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06256" y="306324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0" name="Picture 49" descr="jw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9136" y="3291840"/>
            <a:ext cx="457200" cy="4572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637776" y="317296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JWT Stateless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06256" y="411480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3" name="Picture 52" descr="twili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89136" y="4343400"/>
            <a:ext cx="457200" cy="457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637776" y="422452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Twilio SMS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06256" y="516636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6" name="Picture 55" descr="mai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89136" y="5394960"/>
            <a:ext cx="457200" cy="4572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637776" y="5276088"/>
            <a:ext cx="16916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SMTP Email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ARCHITECTURE &amp; MODULAR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End-to-end request flow User → React → Spring Boot → DB, and core decoupled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5 · ARCHITECTURE &amp;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END-TO-END SYSTEM FLOW</a:t>
            </a:r>
          </a:p>
        </p:txBody>
      </p:sp>
      <p:sp>
        <p:nvSpPr>
          <p:cNvPr id="7" name="Chevron 6"/>
          <p:cNvSpPr/>
          <p:nvPr/>
        </p:nvSpPr>
        <p:spPr>
          <a:xfrm>
            <a:off x="731520" y="1783080"/>
            <a:ext cx="5212080" cy="64008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628" y="1856232"/>
            <a:ext cx="46608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1. USER OPERATOR</a:t>
            </a:r>
          </a:p>
          <a:p>
            <a:pPr>
              <a:defRPr sz="1100">
                <a:solidFill>
                  <a:srgbClr val="5A6E87"/>
                </a:solidFill>
                <a:latin typeface="Segoe UI"/>
              </a:defRPr>
            </a:pPr>
            <a:r>
              <a:rPr dirty="0"/>
              <a:t>Browser client (Admin or Viewer role)</a:t>
            </a:r>
          </a:p>
        </p:txBody>
      </p:sp>
      <p:sp>
        <p:nvSpPr>
          <p:cNvPr id="9" name="Chevron 8"/>
          <p:cNvSpPr/>
          <p:nvPr/>
        </p:nvSpPr>
        <p:spPr>
          <a:xfrm>
            <a:off x="731520" y="2487168"/>
            <a:ext cx="5212080" cy="64008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5628" y="2560320"/>
            <a:ext cx="46608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2. REACT 18 </a:t>
            </a:r>
          </a:p>
          <a:p>
            <a:pPr>
              <a:defRPr sz="1100">
                <a:solidFill>
                  <a:srgbClr val="5A6E87"/>
                </a:solidFill>
                <a:latin typeface="Segoe UI"/>
              </a:defRPr>
            </a:pPr>
            <a:r>
              <a:rPr dirty="0"/>
              <a:t>Single page interface with Axios JWT interceptor</a:t>
            </a:r>
          </a:p>
        </p:txBody>
      </p:sp>
      <p:sp>
        <p:nvSpPr>
          <p:cNvPr id="11" name="Chevron 10"/>
          <p:cNvSpPr/>
          <p:nvPr/>
        </p:nvSpPr>
        <p:spPr>
          <a:xfrm>
            <a:off x="731520" y="3191256"/>
            <a:ext cx="5212080" cy="64008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5628" y="3264408"/>
            <a:ext cx="46608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3. SPRING BOOT REST</a:t>
            </a:r>
          </a:p>
          <a:p>
            <a:pPr>
              <a:defRPr sz="1100">
                <a:solidFill>
                  <a:srgbClr val="5A6E87"/>
                </a:solidFill>
                <a:latin typeface="Segoe UI"/>
              </a:defRPr>
            </a:pPr>
            <a:r>
              <a:rPr dirty="0"/>
              <a:t>REST controllers routing endpoints &amp; validation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731520" y="3895344"/>
            <a:ext cx="5212080" cy="64008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5628" y="3968496"/>
            <a:ext cx="46608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4. SPRING SECURITY</a:t>
            </a:r>
          </a:p>
          <a:p>
            <a:pPr>
              <a:defRPr sz="1100">
                <a:solidFill>
                  <a:srgbClr val="5A6E87"/>
                </a:solidFill>
                <a:latin typeface="Segoe UI"/>
              </a:defRPr>
            </a:pPr>
            <a:r>
              <a:rPr dirty="0" err="1"/>
              <a:t>JwtAuthFilter</a:t>
            </a:r>
            <a:r>
              <a:rPr dirty="0"/>
              <a:t> validates HMAC &amp; enforces RBAC</a:t>
            </a:r>
          </a:p>
        </p:txBody>
      </p:sp>
      <p:sp>
        <p:nvSpPr>
          <p:cNvPr id="15" name="Chevron 14"/>
          <p:cNvSpPr/>
          <p:nvPr/>
        </p:nvSpPr>
        <p:spPr>
          <a:xfrm>
            <a:off x="731520" y="4599432"/>
            <a:ext cx="5212080" cy="64008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5628" y="4672584"/>
            <a:ext cx="46608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5. SERVICE &amp; DAEMON</a:t>
            </a:r>
          </a:p>
          <a:p>
            <a:pPr>
              <a:defRPr sz="1100">
                <a:solidFill>
                  <a:srgbClr val="5A6E87"/>
                </a:solidFill>
                <a:latin typeface="Segoe UI"/>
              </a:defRPr>
            </a:pPr>
            <a:r>
              <a:rPr dirty="0"/>
              <a:t>Core logic &amp; 60-second background health scanner</a:t>
            </a:r>
          </a:p>
        </p:txBody>
      </p:sp>
      <p:sp>
        <p:nvSpPr>
          <p:cNvPr id="17" name="Chevron 16"/>
          <p:cNvSpPr/>
          <p:nvPr/>
        </p:nvSpPr>
        <p:spPr>
          <a:xfrm>
            <a:off x="731520" y="5303520"/>
            <a:ext cx="5212080" cy="64008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5628" y="5376672"/>
            <a:ext cx="46608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6. POSTGRESQL DB</a:t>
            </a:r>
          </a:p>
          <a:p>
            <a:pPr>
              <a:defRPr sz="1100">
                <a:solidFill>
                  <a:srgbClr val="5A6E87"/>
                </a:solidFill>
                <a:latin typeface="Segoe UI"/>
              </a:defRPr>
            </a:pPr>
            <a:r>
              <a:rPr dirty="0"/>
              <a:t>Spring Data JPA parameterized queries &amp; Hibernate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41732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CORE REST ENDPOINTS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830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2136963"/>
            <a:ext cx="25146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sz="1200" b="1" dirty="0">
                <a:solidFill>
                  <a:srgbClr val="0284C7"/>
                </a:solidFill>
                <a:latin typeface="Segoe UI"/>
              </a:rPr>
              <a:t>/</a:t>
            </a:r>
            <a:r>
              <a:rPr sz="1200" b="1" dirty="0" err="1">
                <a:solidFill>
                  <a:srgbClr val="0284C7"/>
                </a:solidFill>
                <a:latin typeface="Segoe UI"/>
              </a:rPr>
              <a:t>api</a:t>
            </a:r>
            <a:r>
              <a:rPr sz="1200" b="1" dirty="0">
                <a:solidFill>
                  <a:srgbClr val="0284C7"/>
                </a:solidFill>
                <a:latin typeface="Segoe UI"/>
              </a:rPr>
              <a:t>/auth </a:t>
            </a:r>
            <a:r>
              <a:rPr sz="1100" dirty="0">
                <a:solidFill>
                  <a:srgbClr val="5A6E87"/>
                </a:solidFill>
                <a:latin typeface="Segoe UI"/>
              </a:rPr>
              <a:t>· JWT login &amp; 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2136963"/>
            <a:ext cx="209512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sz="1200" b="1" dirty="0">
                <a:solidFill>
                  <a:srgbClr val="0284C7"/>
                </a:solidFill>
                <a:latin typeface="Segoe UI"/>
              </a:rPr>
              <a:t>/</a:t>
            </a:r>
            <a:r>
              <a:rPr sz="1200" b="1" dirty="0" err="1">
                <a:solidFill>
                  <a:srgbClr val="0284C7"/>
                </a:solidFill>
                <a:latin typeface="Segoe UI"/>
              </a:rPr>
              <a:t>api</a:t>
            </a:r>
            <a:r>
              <a:rPr sz="1200" b="1" dirty="0">
                <a:solidFill>
                  <a:srgbClr val="0284C7"/>
                </a:solidFill>
                <a:latin typeface="Segoe UI"/>
              </a:rPr>
              <a:t>/assets </a:t>
            </a:r>
            <a:r>
              <a:rPr sz="1100" dirty="0">
                <a:solidFill>
                  <a:srgbClr val="5A6E87"/>
                </a:solidFill>
                <a:latin typeface="Segoe UI"/>
              </a:rPr>
              <a:t>· Server </a:t>
            </a:r>
            <a:r>
              <a:rPr lang="en-US" sz="1100" dirty="0">
                <a:solidFill>
                  <a:srgbClr val="5A6E87"/>
                </a:solidFill>
                <a:latin typeface="Segoe UI"/>
              </a:rPr>
              <a:t>vitals</a:t>
            </a:r>
            <a:r>
              <a:rPr sz="1100" dirty="0">
                <a:solidFill>
                  <a:srgbClr val="5A6E87"/>
                </a:solidFill>
                <a:latin typeface="Segoe UI"/>
              </a:rPr>
              <a:t> CRUD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7972" y="2551176"/>
            <a:ext cx="25146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sz="1200" b="1">
                <a:solidFill>
                  <a:srgbClr val="0284C7"/>
                </a:solidFill>
                <a:latin typeface="Segoe UI"/>
              </a:rPr>
              <a:t>/api/alerts </a:t>
            </a:r>
            <a:r>
              <a:rPr sz="1100">
                <a:solidFill>
                  <a:srgbClr val="5A6E87"/>
                </a:solidFill>
                <a:latin typeface="Segoe UI"/>
              </a:rPr>
              <a:t>· Incident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399" y="2548547"/>
            <a:ext cx="380290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200" b="1" dirty="0">
                <a:solidFill>
                  <a:srgbClr val="0284C7"/>
                </a:solidFill>
                <a:latin typeface="Segoe UI"/>
              </a:rPr>
              <a:t>/</a:t>
            </a:r>
            <a:r>
              <a:rPr sz="1200" b="1" dirty="0" err="1">
                <a:solidFill>
                  <a:srgbClr val="0284C7"/>
                </a:solidFill>
                <a:latin typeface="Segoe UI"/>
              </a:rPr>
              <a:t>api</a:t>
            </a:r>
            <a:r>
              <a:rPr sz="1200" b="1" dirty="0">
                <a:solidFill>
                  <a:srgbClr val="0284C7"/>
                </a:solidFill>
                <a:latin typeface="Segoe UI"/>
              </a:rPr>
              <a:t>/users </a:t>
            </a:r>
            <a:r>
              <a:rPr sz="1100" dirty="0">
                <a:solidFill>
                  <a:srgbClr val="5A6E87"/>
                </a:solidFill>
                <a:latin typeface="Segoe UI"/>
              </a:rPr>
              <a:t>· Roles &amp; 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2004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CORE BACKEND 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66160"/>
            <a:ext cx="52120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3611880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48272" y="3602736"/>
            <a:ext cx="45902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C2340"/>
                </a:solidFill>
                <a:latin typeface="Segoe UI"/>
              </a:defRPr>
            </a:pPr>
            <a:r>
              <a:t>Auth &amp; RBAC Service</a:t>
            </a:r>
          </a:p>
          <a:p>
            <a:pPr>
              <a:defRPr sz="1050">
                <a:solidFill>
                  <a:srgbClr val="5A6E87"/>
                </a:solidFill>
                <a:latin typeface="Segoe UI"/>
              </a:defRPr>
            </a:pPr>
            <a:r>
              <a:t>Dual JWT generation &amp; role verification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059935"/>
            <a:ext cx="52120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4105655"/>
            <a:ext cx="347472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48272" y="4096511"/>
            <a:ext cx="45902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C2340"/>
                </a:solidFill>
                <a:latin typeface="Segoe UI"/>
              </a:defRPr>
            </a:pPr>
            <a:r>
              <a:t>Asset Telemetry Service</a:t>
            </a:r>
          </a:p>
          <a:p>
            <a:pPr>
              <a:defRPr sz="1050">
                <a:solidFill>
                  <a:srgbClr val="5A6E87"/>
                </a:solidFill>
                <a:latin typeface="Segoe UI"/>
              </a:defRPr>
            </a:pPr>
            <a:r>
              <a:t>CRUD operations &amp; live health statistics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553712"/>
            <a:ext cx="52120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4599432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48272" y="4590288"/>
            <a:ext cx="45902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C2340"/>
                </a:solidFill>
                <a:latin typeface="Segoe UI"/>
              </a:defRPr>
            </a:pPr>
            <a:r>
              <a:t>Health Monitor Daemon</a:t>
            </a:r>
          </a:p>
          <a:p>
            <a:pPr>
              <a:defRPr sz="1050">
                <a:solidFill>
                  <a:srgbClr val="5A6E87"/>
                </a:solidFill>
                <a:latin typeface="Segoe UI"/>
              </a:defRPr>
            </a:pPr>
            <a:r>
              <a:t>60-second fixed-rate polling engine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047488"/>
            <a:ext cx="52120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5093208"/>
            <a:ext cx="347472" cy="3474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48272" y="5084064"/>
            <a:ext cx="45902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C2340"/>
                </a:solidFill>
                <a:latin typeface="Segoe UI"/>
              </a:defRPr>
            </a:pPr>
            <a:r>
              <a:t>Alert &amp; Incident Service</a:t>
            </a:r>
          </a:p>
          <a:p>
            <a:pPr>
              <a:defRPr sz="1050">
                <a:solidFill>
                  <a:srgbClr val="5A6E87"/>
                </a:solidFill>
                <a:latin typeface="Segoe UI"/>
              </a:defRPr>
            </a:pPr>
            <a:r>
              <a:t>Threshold rules &amp; OPEN ➔ RESOLVED lifecycle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541264"/>
            <a:ext cx="52120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5586984"/>
            <a:ext cx="347472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48272" y="5577840"/>
            <a:ext cx="45902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C2340"/>
                </a:solidFill>
                <a:latin typeface="Segoe UI"/>
              </a:defRPr>
            </a:pPr>
            <a:r>
              <a:t>Twilio &amp; Mail Notifications</a:t>
            </a:r>
          </a:p>
          <a:p>
            <a:pPr>
              <a:defRPr sz="1050">
                <a:solidFill>
                  <a:srgbClr val="5A6E87"/>
                </a:solidFill>
                <a:latin typeface="Segoe UI"/>
              </a:defRPr>
            </a:pPr>
            <a:r>
              <a:t>Direct mobile SMS &amp; SMTP email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DATABASE SCHEMA &amp; ENTITY 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Normalized PostgreSQL relational schema and integrity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6 ·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 descr="postgre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20" y="169164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2340"/>
                </a:solidFill>
                <a:latin typeface="Segoe UI"/>
              </a:defRPr>
            </a:pPr>
            <a:r>
              <a:t>infrastructure_assets (Servers)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id (BIGINT PRIMARY KEY)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asset_name (UNIQUE Hostname)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cpu, memory, disk (% metrics)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asset_status (ONLINE / WARNING / CRITICAL)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411480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169164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2340"/>
                </a:solidFill>
                <a:latin typeface="Segoe UI"/>
              </a:defRPr>
            </a:pPr>
            <a:r>
              <a:t>alerts (Incident Tickets)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id (BIGINT PRIMARY KEY)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asset_id (FOREIGN KEY -&gt; assets)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severity (LOW, MEDIUM, HIGH, CRITICAL)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status (OPEN or RESOLVED)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2" descr="jw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23360"/>
            <a:ext cx="41148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17320" y="397764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2340"/>
                </a:solidFill>
                <a:latin typeface="Segoe UI"/>
              </a:defRPr>
            </a:pPr>
            <a:r>
              <a:t>users &amp; roles (Security)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users: username, BCrypt password, active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roles: ROLE_ADMIN, ROLE_VIEWER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user_roles: Many-to-many bridge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023360"/>
            <a:ext cx="411480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03720" y="397764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2340"/>
                </a:solidFill>
                <a:latin typeface="Segoe UI"/>
              </a:defRPr>
            </a:pPr>
            <a:r>
              <a:t>Relational Integrity Rules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One-to-Many: One server links to multiple alerts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Many-to-Many: Users bridge to system roles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t>• Parameterized JPA queries prevent SQL injection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0" y="1051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HOW THE REACT FRONTEND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Client-side state architecture, interceptors, and telemetry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7 ·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 descr="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775524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FAST REACT 18 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Component-based UI loading fast without page reloads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34200" y="1754503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SHARED AUTH CONTEXT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Remembers Admin vs Viewer permissions across all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39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2" descr="jw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74719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3270199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AUTOMATIC TOKEN INTERCEPTOR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Attaches Bearer access token to every outgoing API 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39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474719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9440" y="3269042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SILENT TOKEN REFRESH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Seamlessly acquires fresh access token before expiration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8" descr="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98348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4781755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DASHBOARD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Styled cards, responsive tables, and visual alert chips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1" descr="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98348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9440" y="4717884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LIVE VISUAL METERS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lang="en-IN" dirty="0"/>
              <a:t>Display </a:t>
            </a:r>
            <a:r>
              <a:rPr lang="en-US" dirty="0"/>
              <a:t>RAM, CPU, and server health through cards and visual elements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CORE REST API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Exactly one GET, one POST, and one DELETE endpoint contract (Mentor Requirement)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8 · REST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737359"/>
            <a:ext cx="1097280" cy="594359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9647" y="1783078"/>
            <a:ext cx="90525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/</a:t>
            </a:r>
            <a:r>
              <a:rPr dirty="0" err="1"/>
              <a:t>api</a:t>
            </a:r>
            <a:r>
              <a:rPr dirty="0"/>
              <a:t>/assets   [Logged In Users]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rPr dirty="0"/>
              <a:t>Retrieves list of all monitored servers &amp; live health metrics</a:t>
            </a:r>
          </a:p>
          <a:p>
            <a:pPr>
              <a:defRPr sz="1300">
                <a:solidFill>
                  <a:srgbClr val="0284C7"/>
                </a:solidFill>
                <a:latin typeface="Segoe UI"/>
              </a:defRPr>
            </a:pPr>
            <a:r>
              <a:rPr dirty="0"/>
              <a:t>Payload / Response: -&gt; [ { id: 1, </a:t>
            </a:r>
            <a:r>
              <a:rPr dirty="0" err="1"/>
              <a:t>assetName</a:t>
            </a:r>
            <a:r>
              <a:rPr dirty="0"/>
              <a:t>: 'Web-01', </a:t>
            </a:r>
            <a:r>
              <a:rPr dirty="0" err="1"/>
              <a:t>cpuUsage</a:t>
            </a:r>
            <a:r>
              <a:rPr dirty="0"/>
              <a:t>: 45 }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39"/>
            <a:ext cx="10728655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3246118"/>
            <a:ext cx="1097280" cy="594361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246118"/>
            <a:ext cx="905256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/</a:t>
            </a:r>
            <a:r>
              <a:rPr dirty="0" err="1"/>
              <a:t>api</a:t>
            </a:r>
            <a:r>
              <a:rPr dirty="0"/>
              <a:t>/assets   [Admin Only]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rPr dirty="0"/>
              <a:t>Registers and provisions a new infrastructure asset</a:t>
            </a:r>
          </a:p>
          <a:p>
            <a:pPr>
              <a:defRPr sz="1300">
                <a:solidFill>
                  <a:srgbClr val="0284C7"/>
                </a:solidFill>
                <a:latin typeface="Segoe UI"/>
              </a:defRPr>
            </a:pPr>
            <a:r>
              <a:rPr dirty="0"/>
              <a:t>Payload / Response: { </a:t>
            </a:r>
            <a:r>
              <a:rPr dirty="0" err="1"/>
              <a:t>assetName</a:t>
            </a:r>
            <a:r>
              <a:rPr dirty="0"/>
              <a:t>: 'DB-02', </a:t>
            </a:r>
            <a:r>
              <a:rPr dirty="0" err="1"/>
              <a:t>assetType</a:t>
            </a:r>
            <a:r>
              <a:rPr dirty="0"/>
              <a:t>: 'SERVER' } -&gt; Saved (HTTP 201)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728655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4754880"/>
            <a:ext cx="109728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754880"/>
            <a:ext cx="90525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/</a:t>
            </a:r>
            <a:r>
              <a:rPr dirty="0" err="1"/>
              <a:t>api</a:t>
            </a:r>
            <a:r>
              <a:rPr dirty="0"/>
              <a:t>/assets/{id}   [Admin Only]</a:t>
            </a:r>
          </a:p>
          <a:p>
            <a:pPr>
              <a:defRPr sz="1500">
                <a:solidFill>
                  <a:srgbClr val="142337"/>
                </a:solidFill>
                <a:latin typeface="Segoe UI"/>
              </a:defRPr>
            </a:pPr>
            <a:r>
              <a:rPr dirty="0"/>
              <a:t>Decommissions and permanently deletes an asset by ID</a:t>
            </a:r>
          </a:p>
          <a:p>
            <a:pPr>
              <a:defRPr sz="1300">
                <a:solidFill>
                  <a:srgbClr val="0284C7"/>
                </a:solidFill>
                <a:latin typeface="Segoe UI"/>
              </a:defRPr>
            </a:pPr>
            <a:r>
              <a:rPr dirty="0"/>
              <a:t>Payload / Response: Path: id=5 -&gt; HTTP 204 No Content (Deleted)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MILESTONE 1 — INITIAL SETUP &amp;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Starting Spring Boot 4, PostgreSQL, and React 18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9 · MILESTONE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 descr="ja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664208"/>
            <a:ext cx="38862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Java 21 &amp; Spring Boot 4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Configured backend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50591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postgre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24327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2560319"/>
            <a:ext cx="38862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PostgreSQL Database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Connected with </a:t>
            </a:r>
            <a:r>
              <a:rPr lang="en-US" dirty="0"/>
              <a:t>Tomcat</a:t>
            </a:r>
            <a:r>
              <a:rPr dirty="0"/>
              <a:t> connection pool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2" descr="sp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43" y="345643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3456432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Organized Architecture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Separated controllers, services &amp; repos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42816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 descr="postgre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31471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4352544"/>
            <a:ext cx="38862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Server Entity Schema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Table created to store server </a:t>
            </a:r>
            <a:r>
              <a:rPr lang="en-US" dirty="0"/>
              <a:t>vitals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31520" y="5138928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8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60" y="5221224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5248656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React 18 &amp; Vite Frontend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Fast development &amp; build environment</a:t>
            </a:r>
          </a:p>
        </p:txBody>
      </p:sp>
      <p:pic>
        <p:nvPicPr>
          <p:cNvPr id="21" name="Picture 20" descr="screenshot_m1_term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571" y="1554480"/>
            <a:ext cx="5719604" cy="3524014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22" name="Rounded Rectangle 21"/>
          <p:cNvSpPr/>
          <p:nvPr/>
        </p:nvSpPr>
        <p:spPr>
          <a:xfrm>
            <a:off x="5760720" y="525780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541782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5367528"/>
            <a:ext cx="48006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Terminal — Spring Boot 4.1.0 &amp; Tomcat (Port 8080)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✓ Verified: Backend and PostgreSQL pool initialized cleanly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MILESTONE 2 — SERVER MANAGEMENT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Server CRUD APIs and live React monitoring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10 · MILESTONE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 descr="sp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28216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664208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Server CRUD REST APIs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Endpoints to add, view, update &amp; delete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50591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24327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2560319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Fast Summary Endpoint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Returns total, online, &amp; warning 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2" descr="ja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04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3456432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Clean Java Builders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Used Lombok builder &amp; safe null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42816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16552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4352544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Live React Dashboard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Real-time cards show cluster health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38928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8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12664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5248656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Add Server Dialog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Modal popup form to register new servers</a:t>
            </a:r>
          </a:p>
        </p:txBody>
      </p:sp>
      <p:pic>
        <p:nvPicPr>
          <p:cNvPr id="21" name="Picture 20" descr="screenshot_m2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554480"/>
            <a:ext cx="5669280" cy="3493008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22" name="Rounded Rectangle 21"/>
          <p:cNvSpPr/>
          <p:nvPr/>
        </p:nvSpPr>
        <p:spPr>
          <a:xfrm>
            <a:off x="5760720" y="525780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541782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5367528"/>
            <a:ext cx="48006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Chrome — Cloud Security Monitoring Dashboard (Port 5173)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✓ Verified: Live dashboard tracks 4 assets with 100% uptime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4D037FF0-A331-43B1-48F4-45A185E60139}"/>
              </a:ext>
            </a:extLst>
          </p:cNvPr>
          <p:cNvSpPr txBox="1"/>
          <p:nvPr/>
        </p:nvSpPr>
        <p:spPr>
          <a:xfrm>
            <a:off x="5621482" y="1444336"/>
            <a:ext cx="5943600" cy="33354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MILESTONE 3 — AUTOMATIC HEALTH CHECKS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60-second telemetry scan, threshold classification, and incident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11 · MILESTONE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 descr="sp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28216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664208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Segoe UI"/>
              </a:defRPr>
            </a:pPr>
            <a:r>
              <a:t>1. 60-Second Background Scan</a:t>
            </a:r>
          </a:p>
          <a:p>
            <a:pPr>
              <a:defRPr sz="1200">
                <a:solidFill>
                  <a:srgbClr val="5A6E87"/>
                </a:solidFill>
                <a:latin typeface="Segoe UI"/>
              </a:defRPr>
            </a:pPr>
            <a:r>
              <a:t>Checks CPU, memory, &amp; ping for all servers every minute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50591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24327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2560319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Segoe UI"/>
              </a:defRPr>
            </a:pPr>
            <a:r>
              <a:t>2. Metric Threshold Evaluation</a:t>
            </a:r>
          </a:p>
          <a:p>
            <a:pPr>
              <a:defRPr sz="1200">
                <a:solidFill>
                  <a:srgbClr val="5A6E87"/>
                </a:solidFill>
                <a:latin typeface="Segoe UI"/>
              </a:defRPr>
            </a:pPr>
            <a:r>
              <a:t>≥90% CRITICAL · ≥80% WARNING · &lt;80% NORMAL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2" descr="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04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3456432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Segoe UI"/>
              </a:defRPr>
            </a:pPr>
            <a:r>
              <a:t>3. Create Incident Record</a:t>
            </a:r>
          </a:p>
          <a:p>
            <a:pPr>
              <a:defRPr sz="1200">
                <a:solidFill>
                  <a:srgbClr val="5A6E87"/>
                </a:solidFill>
                <a:latin typeface="Segoe UI"/>
              </a:defRPr>
            </a:pPr>
            <a:r>
              <a:t>Persists open incident ticket in PostgreSQL linked to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42816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40" y="4352544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Segoe UI"/>
              </a:defRPr>
            </a:pPr>
            <a:r>
              <a:t>4. Multi-Channel Dispatch</a:t>
            </a:r>
          </a:p>
          <a:p>
            <a:pPr>
              <a:defRPr sz="1200">
                <a:solidFill>
                  <a:srgbClr val="5A6E87"/>
                </a:solidFill>
                <a:latin typeface="Segoe UI"/>
              </a:defRPr>
            </a:pPr>
            <a:r>
              <a:t>Twilio SMS for critical alerts · SMTP email for warnings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38928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8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12664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5248656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Segoe UI"/>
              </a:defRPr>
            </a:pPr>
            <a:r>
              <a:t>Alert Lifecycle: OPEN ➔ RESOLVED</a:t>
            </a:r>
          </a:p>
          <a:p>
            <a:pPr>
              <a:defRPr sz="1200">
                <a:solidFill>
                  <a:srgbClr val="5A6E87"/>
                </a:solidFill>
                <a:latin typeface="Segoe UI"/>
              </a:defRPr>
            </a:pPr>
            <a:r>
              <a:t>Two-state tracking; allows admin to mark issue as fixed in UI</a:t>
            </a:r>
          </a:p>
        </p:txBody>
      </p:sp>
      <p:pic>
        <p:nvPicPr>
          <p:cNvPr id="21" name="Picture 20" descr="screenshot_m3_asse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554480"/>
            <a:ext cx="5669280" cy="3543300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22" name="Rounded Rectangle 21"/>
          <p:cNvSpPr/>
          <p:nvPr/>
        </p:nvSpPr>
        <p:spPr>
          <a:xfrm>
            <a:off x="5760720" y="525780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541782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5367528"/>
            <a:ext cx="48006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Dashboard — Current Assets &amp; Automated Critical Incident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✓ Verified: Incident lifecycle (OPEN ➔ RESOLVED) verified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16552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MILESTONE 4 — LOGIN ROLES &amp; MULTI-CHANNEL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Dual-token login, Admin vs Viewer permissions, and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12 · MILESTONE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 descr="jw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28216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664208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Dual-Token Login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15-min access token and 7-day refresh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50591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24327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2560319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Admin vs Viewer Roles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Admins have edit controls; Viewers read-only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2" descr="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04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3456432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Backend Role Enforcement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Server stops Viewers calling write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42816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 descr="twil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16552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4352544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Twilio Alert Dispatch Sequence</a:t>
            </a:r>
          </a:p>
          <a:p>
            <a:pPr>
              <a:defRPr sz="1150">
                <a:solidFill>
                  <a:srgbClr val="0284C7"/>
                </a:solidFill>
                <a:latin typeface="Segoe UI"/>
              </a:defRPr>
            </a:pPr>
            <a:r>
              <a:rPr dirty="0">
                <a:solidFill>
                  <a:srgbClr val="5A6E87"/>
                </a:solidFill>
              </a:rPr>
              <a:t>Critical Spike (≥90%)  ➔  Backend Service  ➔  Twilio API  ➔  Mobile SMS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38928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8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12664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5248656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Duplicate Alert Prevention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Suppresses repeated OPEN alerts for same asset</a:t>
            </a:r>
          </a:p>
        </p:txBody>
      </p:sp>
      <p:pic>
        <p:nvPicPr>
          <p:cNvPr id="21" name="Picture 20" descr="screenshot_m4_e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554480"/>
            <a:ext cx="5669280" cy="3493008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22" name="Rounded Rectangle 21"/>
          <p:cNvSpPr/>
          <p:nvPr/>
        </p:nvSpPr>
        <p:spPr>
          <a:xfrm>
            <a:off x="5760720" y="525780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541782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5367528"/>
            <a:ext cx="48006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Gmail — Automated Incident Alert Delivered [SMTP]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✓ Verified: Out-of-band email notification delivered to admin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POSTMAN TESTING EVIDENCE &amp; ROLE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Real API tests showing status codes, dual tokens, and role restrictions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13 · TESTING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28216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664208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Status 200 OK Confirmed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Correct requests return clean JSON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50591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24327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2560319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Status 401 Block Confirmed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Rejects requests without login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2" descr="jw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04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3456432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Token Refresh Confirmed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Refresh token generates new access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42816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 descr="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16552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4352544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ROLE_VIEWER ➔ 403 Forbidden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Proves Viewers cannot delete or add servers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38928"/>
            <a:ext cx="47548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12664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5248656"/>
            <a:ext cx="38862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ROLE_ADMIN ➔ 200 OK / 204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Full administrative control verified</a:t>
            </a:r>
          </a:p>
        </p:txBody>
      </p:sp>
      <p:pic>
        <p:nvPicPr>
          <p:cNvPr id="21" name="Picture 20" descr="screenshot_test_postm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554480"/>
            <a:ext cx="5669280" cy="3493008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22" name="Rounded Rectangle 21"/>
          <p:cNvSpPr/>
          <p:nvPr/>
        </p:nvSpPr>
        <p:spPr>
          <a:xfrm>
            <a:off x="5760720" y="525780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2" descr="postm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541782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5367528"/>
            <a:ext cx="4800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Postman — POST /</a:t>
            </a:r>
            <a:r>
              <a:rPr dirty="0" err="1"/>
              <a:t>api</a:t>
            </a:r>
            <a:r>
              <a:rPr dirty="0"/>
              <a:t>/auth/login [Status: 200 OK]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✓ Verified: Dual JWT tokens &amp; RBAC permissions proven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SECURITY &amp; CHALLENGES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Production hardening, credential isolation, and engineering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14 · SECURITY &amp;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 descr="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761440"/>
            <a:ext cx="43434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SCRAMBLED PASSWORDS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Hashed with </a:t>
            </a:r>
            <a:r>
              <a:rPr dirty="0" err="1"/>
              <a:t>BCrypt</a:t>
            </a:r>
            <a:r>
              <a:rPr dirty="0"/>
              <a:t> so never stored in plain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jw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1664208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DOUBLE REFRESH QUEUING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Queued Axios calls prevent duplicate concurrent token refresh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39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2" descr="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74719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3172967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SECURE SECRET STORAGE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Twilio API credentials and SMTP mail passwords isolated in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39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 descr="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474719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9440" y="3172967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SAFE DATABASE QUERIES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Spring Data JPA uses parameterized queries, reducing SQL injection risks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8" descr="b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8348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4681728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SAFE ERROR MASKING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Central exception handler masks internal database details and SQL errors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1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9440" y="4681728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DUPLICATE ALERT PREVENTION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Suppresses repeated OPEN alerts for same asset to prevent alert fatigue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CLOUD DEPLOYMENT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AWS production deployment architecture and roadmap for platform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15 · CLOUD DEPLOYMENT &amp;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Segoe UI"/>
              </a:defRPr>
            </a:pPr>
            <a:r>
              <a:t>AWS CLOUD PRODUCTION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240280"/>
            <a:ext cx="46634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8" descr="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2316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37360" y="2350008"/>
            <a:ext cx="37947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DOCKER CONTAINERIZATION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Spring Boot backend &amp; React packaged as Docker 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154680"/>
            <a:ext cx="46634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1" descr="a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33756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37360" y="3264408"/>
            <a:ext cx="37947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AWS EC2 COMPUTE CLOUD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Linux microservice container running on port 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069080"/>
            <a:ext cx="46634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4" descr="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25196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37360" y="4178808"/>
            <a:ext cx="37947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MANAGED AWS RDS DATABASE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PostgreSQL engine with multi-AZ backups &amp; ACID safety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983480"/>
            <a:ext cx="46634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7" descr="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16636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37360" y="5093208"/>
            <a:ext cx="37947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AWS CLOUDWATCH METRICS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Infrastructure CPU, memory, &amp; network monitoring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50876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6916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Segoe UI"/>
              </a:defRPr>
            </a:pPr>
            <a:r>
              <a:t>PRACTICAL FUTURE SCOPE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240280"/>
            <a:ext cx="46634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2" descr="sli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42316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2350008"/>
            <a:ext cx="37947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CUSTOM SERVER THRESHOLDS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Allow admins to set custom CPU &amp; RAM limits per server from 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154680"/>
            <a:ext cx="46634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5" descr="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337560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23760" y="3264408"/>
            <a:ext cx="37947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HISTORICAL METRIC TRENDS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Store 24-hour telemetry to render hourly CPU usage charts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069080"/>
            <a:ext cx="46634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8" descr="repo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251960"/>
            <a:ext cx="457200" cy="457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23760" y="4178808"/>
            <a:ext cx="37947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INCIDENT REPORT EXPORTS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One-click export of resolved alerts and uptime logs to CSV/PDF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983480"/>
            <a:ext cx="46634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1" descr="webh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5166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23760" y="5093208"/>
            <a:ext cx="37947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t>DISCORD &amp; TELEGRAM ALERTS</a:t>
            </a:r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Simple team webhook triggers for group channel notifications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C2340"/>
                </a:solidFill>
                <a:latin typeface="Segoe UI"/>
              </a:defRPr>
            </a:pPr>
            <a:r>
              <a:t>PROJECT SUMMARY &amp; 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t>All four milestones completed, validated, and hardened for cloud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16 · SUMMARY &amp; HIGHLIGHTS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664208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ALL 4 MILESTONES DELIVERED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Successfully built, integrated, and validated every assigned 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1664208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RELIABLE 60s SERVER CHECKS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Automatic background daemon spots high CPU, memory, and ping issues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39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3172967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FAST VISUAL DASHBOARD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Real-time metric progress bars and status cards give instant cluster health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39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 descr="secu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474719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9440" y="3172967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REAL ROLE-BASED SECURITY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Admins have full edit access while Viewers only have read permissions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8" descr="twil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8348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4681728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FAST PHONE SMS ALERTS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Twilio mobile SMS and SMTP email ensure emergencies are never missed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22" name="Picture 21" descr="postm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9440" y="4681728"/>
            <a:ext cx="4343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endParaRPr lang="en-US" dirty="0"/>
          </a:p>
          <a:p>
            <a:pPr>
              <a:defRPr sz="15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PROVEN WITH AUTOMATED TESTS</a:t>
            </a:r>
            <a:endParaRPr lang="en-US" dirty="0"/>
          </a:p>
          <a:p>
            <a:pPr>
              <a:defRPr sz="1300">
                <a:solidFill>
                  <a:srgbClr val="5A6E87"/>
                </a:solidFill>
                <a:latin typeface="Segoe UI"/>
              </a:defRPr>
            </a:pPr>
            <a:r>
              <a:rPr dirty="0"/>
              <a:t>Postman tests confirm REST API contracts and RBAC boundaries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474719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91873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THANK YOU!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Cloud Security Monitoring System with</a:t>
            </a:r>
            <a:br>
              <a:rPr dirty="0"/>
            </a:br>
            <a:r>
              <a:rPr dirty="0"/>
              <a:t>Incident Management Assistance</a:t>
            </a:r>
          </a:p>
          <a:p>
            <a:pPr algn="ctr">
              <a:spcBef>
                <a:spcPts val="6000"/>
              </a:spcBef>
              <a:spcAft>
                <a:spcPts val="1200"/>
              </a:spcAft>
              <a:defRPr sz="1600">
                <a:solidFill>
                  <a:srgbClr val="E0F2FE"/>
                </a:solidFill>
                <a:latin typeface="Segoe UI"/>
              </a:defRPr>
            </a:pPr>
            <a:r>
              <a:rPr dirty="0"/>
              <a:t>Project Mentor: VIJAY VASANTH</a:t>
            </a:r>
          </a:p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rPr dirty="0"/>
              <a:t>Open for Questions &amp; Technical Discussion</a:t>
            </a:r>
          </a:p>
        </p:txBody>
      </p:sp>
      <p:pic>
        <p:nvPicPr>
          <p:cNvPr id="5" name="Picture 4" descr="ja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3474720"/>
            <a:ext cx="594360" cy="594360"/>
          </a:xfrm>
          <a:prstGeom prst="rect">
            <a:avLst/>
          </a:prstGeom>
        </p:spPr>
      </p:pic>
      <p:pic>
        <p:nvPicPr>
          <p:cNvPr id="6" name="Picture 5" descr="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474720"/>
            <a:ext cx="594360" cy="594360"/>
          </a:xfrm>
          <a:prstGeom prst="rect">
            <a:avLst/>
          </a:prstGeom>
        </p:spPr>
      </p:pic>
      <p:pic>
        <p:nvPicPr>
          <p:cNvPr id="7" name="Picture 6" descr="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474720"/>
            <a:ext cx="594360" cy="594360"/>
          </a:xfrm>
          <a:prstGeom prst="rect">
            <a:avLst/>
          </a:prstGeom>
        </p:spPr>
      </p:pic>
      <p:pic>
        <p:nvPicPr>
          <p:cNvPr id="8" name="Picture 7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474720"/>
            <a:ext cx="594360" cy="594360"/>
          </a:xfrm>
          <a:prstGeom prst="rect">
            <a:avLst/>
          </a:prstGeom>
        </p:spPr>
      </p:pic>
      <p:pic>
        <p:nvPicPr>
          <p:cNvPr id="9" name="Picture 8" descr="twil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47472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☁  Slide 17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1711</Words>
  <Application>Microsoft Office PowerPoint</Application>
  <PresentationFormat>Widescreen</PresentationFormat>
  <Paragraphs>318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Nivetha</dc:creator>
  <cp:keywords/>
  <dc:description>generated using python-pptx</dc:description>
  <cp:lastModifiedBy>NIVETHA V</cp:lastModifiedBy>
  <cp:revision>6</cp:revision>
  <dcterms:created xsi:type="dcterms:W3CDTF">2013-01-27T09:14:16Z</dcterms:created>
  <dcterms:modified xsi:type="dcterms:W3CDTF">2026-09-20T13:54:56Z</dcterms:modified>
  <cp:category/>
</cp:coreProperties>
</file>